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3"/>
  </p:notesMasterIdLst>
  <p:sldIdLst>
    <p:sldId id="256" r:id="rId2"/>
    <p:sldId id="715" r:id="rId3"/>
    <p:sldId id="714" r:id="rId4"/>
    <p:sldId id="674" r:id="rId5"/>
    <p:sldId id="713" r:id="rId6"/>
    <p:sldId id="717" r:id="rId7"/>
    <p:sldId id="718" r:id="rId8"/>
    <p:sldId id="720" r:id="rId9"/>
    <p:sldId id="719" r:id="rId10"/>
    <p:sldId id="721" r:id="rId11"/>
    <p:sldId id="722" r:id="rId12"/>
    <p:sldId id="723" r:id="rId13"/>
    <p:sldId id="724" r:id="rId14"/>
    <p:sldId id="725" r:id="rId15"/>
    <p:sldId id="726" r:id="rId16"/>
    <p:sldId id="727" r:id="rId17"/>
    <p:sldId id="728" r:id="rId18"/>
    <p:sldId id="730" r:id="rId19"/>
    <p:sldId id="731" r:id="rId20"/>
    <p:sldId id="732" r:id="rId21"/>
    <p:sldId id="30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3447020-D123-4FAB-9E97-2B891C689AA8}">
          <p14:sldIdLst>
            <p14:sldId id="256"/>
          </p14:sldIdLst>
        </p14:section>
        <p14:section name="Untitled Section" id="{F5DD2F3D-87B7-4D90-8785-89C85C3A9FA3}">
          <p14:sldIdLst>
            <p14:sldId id="715"/>
            <p14:sldId id="714"/>
            <p14:sldId id="674"/>
            <p14:sldId id="713"/>
            <p14:sldId id="717"/>
            <p14:sldId id="718"/>
            <p14:sldId id="720"/>
            <p14:sldId id="719"/>
            <p14:sldId id="721"/>
            <p14:sldId id="722"/>
            <p14:sldId id="723"/>
            <p14:sldId id="724"/>
            <p14:sldId id="725"/>
            <p14:sldId id="726"/>
            <p14:sldId id="727"/>
            <p14:sldId id="728"/>
            <p14:sldId id="730"/>
            <p14:sldId id="731"/>
            <p14:sldId id="73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A55"/>
    <a:srgbClr val="FFFFFF"/>
    <a:srgbClr val="8497B0"/>
    <a:srgbClr val="F9F9F9"/>
    <a:srgbClr val="21275D"/>
    <a:srgbClr val="333F50"/>
    <a:srgbClr val="8FAADC"/>
    <a:srgbClr val="2F5597"/>
    <a:srgbClr val="626CC7"/>
    <a:srgbClr val="323B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p:scale>
          <a:sx n="47" d="100"/>
          <a:sy n="47" d="100"/>
        </p:scale>
        <p:origin x="1328" y="400"/>
      </p:cViewPr>
      <p:guideLst/>
    </p:cSldViewPr>
  </p:slideViewPr>
  <p:notesTextViewPr>
    <p:cViewPr>
      <p:scale>
        <a:sx n="75" d="100"/>
        <a:sy n="75" d="100"/>
      </p:scale>
      <p:origin x="0" y="0"/>
    </p:cViewPr>
  </p:notesTextViewPr>
  <p:sorterViewPr>
    <p:cViewPr>
      <p:scale>
        <a:sx n="150" d="100"/>
        <a:sy n="150" d="100"/>
      </p:scale>
      <p:origin x="0" y="-168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barChart>
        <c:barDir val="col"/>
        <c:grouping val="clustered"/>
        <c:varyColors val="0"/>
        <c:ser>
          <c:idx val="0"/>
          <c:order val="0"/>
          <c:tx>
            <c:strRef>
              <c:f>Sheet1!$B$1</c:f>
              <c:strCache>
                <c:ptCount val="1"/>
                <c:pt idx="0">
                  <c:v>Precision %</c:v>
                </c:pt>
              </c:strCache>
            </c:strRef>
          </c:tx>
          <c:spPr>
            <a:solidFill>
              <a:schemeClr val="accent1"/>
            </a:solidFill>
            <a:ln>
              <a:noFill/>
            </a:ln>
            <a:effectLst/>
          </c:spPr>
          <c:invertIfNegative val="0"/>
          <c:cat>
            <c:strRef>
              <c:f>Sheet1!$A$2:$A$7</c:f>
              <c:strCache>
                <c:ptCount val="6"/>
                <c:pt idx="0">
                  <c:v>Logistic Regression</c:v>
                </c:pt>
                <c:pt idx="1">
                  <c:v>Decision Tree </c:v>
                </c:pt>
                <c:pt idx="2">
                  <c:v>K-NN</c:v>
                </c:pt>
                <c:pt idx="3">
                  <c:v>SVM</c:v>
                </c:pt>
                <c:pt idx="4">
                  <c:v>AdaBoost</c:v>
                </c:pt>
                <c:pt idx="5">
                  <c:v>Random Forest</c:v>
                </c:pt>
              </c:strCache>
            </c:strRef>
          </c:cat>
          <c:val>
            <c:numRef>
              <c:f>Sheet1!$B$2:$B$7</c:f>
              <c:numCache>
                <c:formatCode>General</c:formatCode>
                <c:ptCount val="6"/>
                <c:pt idx="0">
                  <c:v>95.554000000000002</c:v>
                </c:pt>
                <c:pt idx="1">
                  <c:v>96.548000000000002</c:v>
                </c:pt>
                <c:pt idx="2">
                  <c:v>93.269000000000005</c:v>
                </c:pt>
                <c:pt idx="3">
                  <c:v>96.052999999999997</c:v>
                </c:pt>
                <c:pt idx="4">
                  <c:v>68.119</c:v>
                </c:pt>
                <c:pt idx="5">
                  <c:v>97.802999999999997</c:v>
                </c:pt>
              </c:numCache>
            </c:numRef>
          </c:val>
          <c:extLst>
            <c:ext xmlns:c16="http://schemas.microsoft.com/office/drawing/2014/chart" uri="{C3380CC4-5D6E-409C-BE32-E72D297353CC}">
              <c16:uniqueId val="{00000000-5A06-4AD0-A6EA-C95E9B21C503}"/>
            </c:ext>
          </c:extLst>
        </c:ser>
        <c:ser>
          <c:idx val="1"/>
          <c:order val="1"/>
          <c:tx>
            <c:strRef>
              <c:f>Sheet1!$C$1</c:f>
              <c:strCache>
                <c:ptCount val="1"/>
                <c:pt idx="0">
                  <c:v>Accuracy %</c:v>
                </c:pt>
              </c:strCache>
            </c:strRef>
          </c:tx>
          <c:spPr>
            <a:solidFill>
              <a:schemeClr val="accent3"/>
            </a:solidFill>
            <a:ln>
              <a:noFill/>
            </a:ln>
            <a:effectLst/>
          </c:spPr>
          <c:invertIfNegative val="0"/>
          <c:cat>
            <c:strRef>
              <c:f>Sheet1!$A$2:$A$7</c:f>
              <c:strCache>
                <c:ptCount val="6"/>
                <c:pt idx="0">
                  <c:v>Logistic Regression</c:v>
                </c:pt>
                <c:pt idx="1">
                  <c:v>Decision Tree </c:v>
                </c:pt>
                <c:pt idx="2">
                  <c:v>K-NN</c:v>
                </c:pt>
                <c:pt idx="3">
                  <c:v>SVM</c:v>
                </c:pt>
                <c:pt idx="4">
                  <c:v>AdaBoost</c:v>
                </c:pt>
                <c:pt idx="5">
                  <c:v>Random Forest</c:v>
                </c:pt>
              </c:strCache>
            </c:strRef>
          </c:cat>
          <c:val>
            <c:numRef>
              <c:f>Sheet1!$C$2:$C$7</c:f>
              <c:numCache>
                <c:formatCode>General</c:formatCode>
                <c:ptCount val="6"/>
                <c:pt idx="0">
                  <c:v>95.564999999999998</c:v>
                </c:pt>
                <c:pt idx="1">
                  <c:v>96.545000000000002</c:v>
                </c:pt>
                <c:pt idx="2">
                  <c:v>93.245000000000005</c:v>
                </c:pt>
                <c:pt idx="3">
                  <c:v>96.07</c:v>
                </c:pt>
                <c:pt idx="4">
                  <c:v>79.844999999999999</c:v>
                </c:pt>
                <c:pt idx="5">
                  <c:v>97.814999999999998</c:v>
                </c:pt>
              </c:numCache>
            </c:numRef>
          </c:val>
          <c:extLst>
            <c:ext xmlns:c16="http://schemas.microsoft.com/office/drawing/2014/chart" uri="{C3380CC4-5D6E-409C-BE32-E72D297353CC}">
              <c16:uniqueId val="{00000001-5A06-4AD0-A6EA-C95E9B21C503}"/>
            </c:ext>
          </c:extLst>
        </c:ser>
        <c:ser>
          <c:idx val="2"/>
          <c:order val="2"/>
          <c:tx>
            <c:strRef>
              <c:f>Sheet1!$D$1</c:f>
              <c:strCache>
                <c:ptCount val="1"/>
                <c:pt idx="0">
                  <c:v>Recall %</c:v>
                </c:pt>
              </c:strCache>
            </c:strRef>
          </c:tx>
          <c:spPr>
            <a:solidFill>
              <a:schemeClr val="accent5"/>
            </a:solidFill>
            <a:ln>
              <a:noFill/>
            </a:ln>
            <a:effectLst/>
          </c:spPr>
          <c:invertIfNegative val="0"/>
          <c:cat>
            <c:strRef>
              <c:f>Sheet1!$A$2:$A$7</c:f>
              <c:strCache>
                <c:ptCount val="6"/>
                <c:pt idx="0">
                  <c:v>Logistic Regression</c:v>
                </c:pt>
                <c:pt idx="1">
                  <c:v>Decision Tree </c:v>
                </c:pt>
                <c:pt idx="2">
                  <c:v>K-NN</c:v>
                </c:pt>
                <c:pt idx="3">
                  <c:v>SVM</c:v>
                </c:pt>
                <c:pt idx="4">
                  <c:v>AdaBoost</c:v>
                </c:pt>
                <c:pt idx="5">
                  <c:v>Random Forest</c:v>
                </c:pt>
              </c:strCache>
            </c:strRef>
          </c:cat>
          <c:val>
            <c:numRef>
              <c:f>Sheet1!$D$2:$D$7</c:f>
              <c:numCache>
                <c:formatCode>General</c:formatCode>
                <c:ptCount val="6"/>
                <c:pt idx="0">
                  <c:v>95.564999999999998</c:v>
                </c:pt>
                <c:pt idx="1">
                  <c:v>96.545000000000002</c:v>
                </c:pt>
                <c:pt idx="2">
                  <c:v>93.245000000000005</c:v>
                </c:pt>
                <c:pt idx="3">
                  <c:v>96.07</c:v>
                </c:pt>
                <c:pt idx="4">
                  <c:v>79.844999999999999</c:v>
                </c:pt>
                <c:pt idx="5">
                  <c:v>97.814999999999998</c:v>
                </c:pt>
              </c:numCache>
            </c:numRef>
          </c:val>
          <c:extLst>
            <c:ext xmlns:c16="http://schemas.microsoft.com/office/drawing/2014/chart" uri="{C3380CC4-5D6E-409C-BE32-E72D297353CC}">
              <c16:uniqueId val="{00000002-5A06-4AD0-A6EA-C95E9B21C503}"/>
            </c:ext>
          </c:extLst>
        </c:ser>
        <c:ser>
          <c:idx val="3"/>
          <c:order val="3"/>
          <c:tx>
            <c:strRef>
              <c:f>Sheet1!$E$1</c:f>
              <c:strCache>
                <c:ptCount val="1"/>
                <c:pt idx="0">
                  <c:v>F1-Score %</c:v>
                </c:pt>
              </c:strCache>
            </c:strRef>
          </c:tx>
          <c:spPr>
            <a:solidFill>
              <a:schemeClr val="accent1">
                <a:lumMod val="60000"/>
              </a:schemeClr>
            </a:solidFill>
            <a:ln>
              <a:noFill/>
            </a:ln>
            <a:effectLst/>
          </c:spPr>
          <c:invertIfNegative val="0"/>
          <c:cat>
            <c:strRef>
              <c:f>Sheet1!$A$2:$A$7</c:f>
              <c:strCache>
                <c:ptCount val="6"/>
                <c:pt idx="0">
                  <c:v>Logistic Regression</c:v>
                </c:pt>
                <c:pt idx="1">
                  <c:v>Decision Tree </c:v>
                </c:pt>
                <c:pt idx="2">
                  <c:v>K-NN</c:v>
                </c:pt>
                <c:pt idx="3">
                  <c:v>SVM</c:v>
                </c:pt>
                <c:pt idx="4">
                  <c:v>AdaBoost</c:v>
                </c:pt>
                <c:pt idx="5">
                  <c:v>Random Forest</c:v>
                </c:pt>
              </c:strCache>
            </c:strRef>
          </c:cat>
          <c:val>
            <c:numRef>
              <c:f>Sheet1!$E$2:$E$7</c:f>
              <c:numCache>
                <c:formatCode>General</c:formatCode>
                <c:ptCount val="6"/>
                <c:pt idx="0">
                  <c:v>95.524000000000001</c:v>
                </c:pt>
                <c:pt idx="1">
                  <c:v>96.546000000000006</c:v>
                </c:pt>
                <c:pt idx="2">
                  <c:v>93.209000000000003</c:v>
                </c:pt>
                <c:pt idx="3">
                  <c:v>96.03</c:v>
                </c:pt>
                <c:pt idx="4">
                  <c:v>72.099999999999994</c:v>
                </c:pt>
                <c:pt idx="5">
                  <c:v>97.801000000000002</c:v>
                </c:pt>
              </c:numCache>
            </c:numRef>
          </c:val>
          <c:extLst>
            <c:ext xmlns:c16="http://schemas.microsoft.com/office/drawing/2014/chart" uri="{C3380CC4-5D6E-409C-BE32-E72D297353CC}">
              <c16:uniqueId val="{00000003-5A06-4AD0-A6EA-C95E9B21C503}"/>
            </c:ext>
          </c:extLst>
        </c:ser>
        <c:dLbls>
          <c:showLegendKey val="0"/>
          <c:showVal val="0"/>
          <c:showCatName val="0"/>
          <c:showSerName val="0"/>
          <c:showPercent val="0"/>
          <c:showBubbleSize val="0"/>
        </c:dLbls>
        <c:gapWidth val="267"/>
        <c:overlap val="-43"/>
        <c:axId val="1871652560"/>
        <c:axId val="1871647568"/>
      </c:barChart>
      <c:catAx>
        <c:axId val="1871652560"/>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1871647568"/>
        <c:crosses val="autoZero"/>
        <c:auto val="1"/>
        <c:lblAlgn val="ctr"/>
        <c:lblOffset val="100"/>
        <c:noMultiLvlLbl val="0"/>
      </c:catAx>
      <c:valAx>
        <c:axId val="1871647568"/>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1871652560"/>
        <c:crosses val="autoZero"/>
        <c:crossBetween val="between"/>
      </c:valAx>
      <c:spPr>
        <a:pattFill prst="ltDnDiag">
          <a:fgClr>
            <a:schemeClr val="dk1">
              <a:lumMod val="15000"/>
              <a:lumOff val="85000"/>
            </a:schemeClr>
          </a:fgClr>
          <a:bgClr>
            <a:schemeClr val="lt1"/>
          </a:bgClr>
        </a:patt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30-08-2024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smtClean="0">
                <a:latin typeface="Calibri" panose="020F0502020204030204" pitchFamily="34" charset="0"/>
              </a:rPr>
              <a:t>Stellar Object Detection</a:t>
            </a:r>
            <a:endParaRPr lang="en-US" sz="4400" b="1" dirty="0">
              <a:latin typeface="Calibri" panose="020F0502020204030204" pitchFamily="34" charset="0"/>
            </a:endParaRPr>
          </a:p>
        </p:txBody>
      </p:sp>
      <p:sp>
        <p:nvSpPr>
          <p:cNvPr id="3" name="TextBox 2"/>
          <p:cNvSpPr txBox="1"/>
          <p:nvPr/>
        </p:nvSpPr>
        <p:spPr>
          <a:xfrm>
            <a:off x="182880" y="5953760"/>
            <a:ext cx="4551680" cy="646331"/>
          </a:xfrm>
          <a:prstGeom prst="rect">
            <a:avLst/>
          </a:prstGeom>
          <a:noFill/>
        </p:spPr>
        <p:txBody>
          <a:bodyPr wrap="square" rtlCol="0">
            <a:spAutoFit/>
          </a:bodyPr>
          <a:lstStyle/>
          <a:p>
            <a:r>
              <a:rPr lang="en-US" dirty="0" smtClean="0">
                <a:solidFill>
                  <a:schemeClr val="bg1"/>
                </a:solidFill>
              </a:rPr>
              <a:t>A project by:</a:t>
            </a:r>
          </a:p>
          <a:p>
            <a:r>
              <a:rPr lang="en-US" dirty="0" smtClean="0">
                <a:solidFill>
                  <a:schemeClr val="bg1"/>
                </a:solidFill>
              </a:rPr>
              <a:t>Mohammed Hussain Shaikh</a:t>
            </a:r>
            <a:endParaRPr lang="en-US" dirty="0">
              <a:solidFill>
                <a:schemeClr val="bg1"/>
              </a:solidFill>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542" y="292923"/>
            <a:ext cx="10834234" cy="612775"/>
          </a:xfrm>
        </p:spPr>
        <p:txBody>
          <a:bodyPr/>
          <a:lstStyle/>
          <a:p>
            <a:r>
              <a:rPr lang="en-US" dirty="0" smtClean="0"/>
              <a:t>Index</a:t>
            </a:r>
            <a:endParaRPr lang="en-US" dirty="0"/>
          </a:p>
        </p:txBody>
      </p:sp>
      <p:grpSp>
        <p:nvGrpSpPr>
          <p:cNvPr id="19" name="Group 18"/>
          <p:cNvGrpSpPr/>
          <p:nvPr/>
        </p:nvGrpSpPr>
        <p:grpSpPr>
          <a:xfrm>
            <a:off x="1454152" y="1216441"/>
            <a:ext cx="9535160" cy="3412312"/>
            <a:chOff x="1493520" y="1818640"/>
            <a:chExt cx="9535160" cy="3412312"/>
          </a:xfrm>
        </p:grpSpPr>
        <p:sp>
          <p:nvSpPr>
            <p:cNvPr id="4" name="Rectangle 3"/>
            <p:cNvSpPr/>
            <p:nvPr/>
          </p:nvSpPr>
          <p:spPr>
            <a:xfrm>
              <a:off x="1493520" y="1818640"/>
              <a:ext cx="4724400" cy="680720"/>
            </a:xfrm>
            <a:prstGeom prst="rect">
              <a:avLst/>
            </a:prstGeom>
            <a:solidFill>
              <a:srgbClr val="849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6217920" y="2499360"/>
              <a:ext cx="4810760" cy="680720"/>
            </a:xfrm>
            <a:prstGeom prst="rect">
              <a:avLst/>
            </a:prstGeom>
            <a:solidFill>
              <a:srgbClr val="1C1A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493520" y="3180080"/>
              <a:ext cx="4724400" cy="680720"/>
            </a:xfrm>
            <a:prstGeom prst="rect">
              <a:avLst/>
            </a:prstGeom>
            <a:solidFill>
              <a:srgbClr val="849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217919" y="3860800"/>
              <a:ext cx="4810759" cy="680720"/>
            </a:xfrm>
            <a:prstGeom prst="rect">
              <a:avLst/>
            </a:prstGeom>
            <a:solidFill>
              <a:srgbClr val="1C1A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493520" y="4550232"/>
              <a:ext cx="4754880" cy="680720"/>
            </a:xfrm>
            <a:prstGeom prst="rect">
              <a:avLst/>
            </a:prstGeom>
            <a:solidFill>
              <a:srgbClr val="849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p:cNvGrpSpPr/>
          <p:nvPr/>
        </p:nvGrpSpPr>
        <p:grpSpPr>
          <a:xfrm>
            <a:off x="1090932" y="1216441"/>
            <a:ext cx="10010138" cy="3307655"/>
            <a:chOff x="1148080" y="1818640"/>
            <a:chExt cx="10010138" cy="3307655"/>
          </a:xfrm>
        </p:grpSpPr>
        <p:sp>
          <p:nvSpPr>
            <p:cNvPr id="9" name="TextBox 8"/>
            <p:cNvSpPr txBox="1"/>
            <p:nvPr/>
          </p:nvSpPr>
          <p:spPr>
            <a:xfrm>
              <a:off x="1209040" y="1818640"/>
              <a:ext cx="5069840" cy="584775"/>
            </a:xfrm>
            <a:prstGeom prst="rect">
              <a:avLst/>
            </a:prstGeom>
            <a:noFill/>
          </p:spPr>
          <p:txBody>
            <a:bodyPr wrap="square" rtlCol="0">
              <a:spAutoFit/>
            </a:bodyPr>
            <a:lstStyle/>
            <a:p>
              <a:pPr algn="ctr"/>
              <a:r>
                <a:rPr lang="en-US" dirty="0" smtClean="0">
                  <a:solidFill>
                    <a:schemeClr val="bg1"/>
                  </a:solidFill>
                  <a:latin typeface="Tahoma" panose="020B0604030504040204" pitchFamily="34" charset="0"/>
                  <a:ea typeface="Tahoma" panose="020B0604030504040204" pitchFamily="34" charset="0"/>
                  <a:cs typeface="Tahoma" panose="020B0604030504040204" pitchFamily="34" charset="0"/>
                </a:rPr>
                <a:t>Introduction</a:t>
              </a:r>
            </a:p>
            <a:p>
              <a:pPr algn="ctr"/>
              <a:r>
                <a:rPr lang="en-US" sz="1400" dirty="0" smtClean="0">
                  <a:latin typeface="Tahoma" panose="020B0604030504040204" pitchFamily="34" charset="0"/>
                  <a:ea typeface="Tahoma" panose="020B0604030504040204" pitchFamily="34" charset="0"/>
                  <a:cs typeface="Tahoma" panose="020B0604030504040204" pitchFamily="34" charset="0"/>
                </a:rPr>
                <a:t>Understanding the scope of the project</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12" name="TextBox 11"/>
            <p:cNvSpPr txBox="1"/>
            <p:nvPr/>
          </p:nvSpPr>
          <p:spPr>
            <a:xfrm>
              <a:off x="5849720" y="2556044"/>
              <a:ext cx="5225415" cy="584775"/>
            </a:xfrm>
            <a:prstGeom prst="rect">
              <a:avLst/>
            </a:prstGeom>
            <a:noFill/>
          </p:spPr>
          <p:txBody>
            <a:bodyPr wrap="square" rtlCol="0">
              <a:spAutoFit/>
            </a:bodyPr>
            <a:lstStyle/>
            <a:p>
              <a:pPr algn="ctr"/>
              <a:r>
                <a:rPr lang="en-US" dirty="0" smtClean="0">
                  <a:solidFill>
                    <a:schemeClr val="bg1"/>
                  </a:solidFill>
                  <a:latin typeface="Tahoma" panose="020B0604030504040204" pitchFamily="34" charset="0"/>
                  <a:ea typeface="Tahoma" panose="020B0604030504040204" pitchFamily="34" charset="0"/>
                  <a:cs typeface="Tahoma" panose="020B0604030504040204" pitchFamily="34" charset="0"/>
                </a:rPr>
                <a:t>Data Collection</a:t>
              </a:r>
            </a:p>
            <a:p>
              <a:pPr algn="ctr"/>
              <a:r>
                <a:rPr lang="en-US" sz="1400" dirty="0" smtClean="0">
                  <a:solidFill>
                    <a:srgbClr val="8497B0"/>
                  </a:solidFill>
                  <a:latin typeface="Tahoma" panose="020B0604030504040204" pitchFamily="34" charset="0"/>
                  <a:ea typeface="Tahoma" panose="020B0604030504040204" pitchFamily="34" charset="0"/>
                  <a:cs typeface="Tahoma" panose="020B0604030504040204" pitchFamily="34" charset="0"/>
                </a:rPr>
                <a:t>Importing the data and understanding features</a:t>
              </a:r>
              <a:endParaRPr lang="en-US" sz="1400" dirty="0">
                <a:solidFill>
                  <a:srgbClr val="8497B0"/>
                </a:solidFill>
                <a:latin typeface="Tahoma" panose="020B0604030504040204" pitchFamily="34" charset="0"/>
                <a:ea typeface="Tahoma" panose="020B0604030504040204" pitchFamily="34" charset="0"/>
                <a:cs typeface="Tahoma" panose="020B0604030504040204" pitchFamily="34" charset="0"/>
              </a:endParaRPr>
            </a:p>
          </p:txBody>
        </p:sp>
        <p:sp>
          <p:nvSpPr>
            <p:cNvPr id="13" name="TextBox 12"/>
            <p:cNvSpPr txBox="1"/>
            <p:nvPr/>
          </p:nvSpPr>
          <p:spPr>
            <a:xfrm>
              <a:off x="1209040" y="3197504"/>
              <a:ext cx="5069840" cy="584775"/>
            </a:xfrm>
            <a:prstGeom prst="rect">
              <a:avLst/>
            </a:prstGeom>
            <a:noFill/>
          </p:spPr>
          <p:txBody>
            <a:bodyPr wrap="square" rtlCol="0">
              <a:spAutoFit/>
            </a:bodyPr>
            <a:lstStyle/>
            <a:p>
              <a:pPr algn="ctr"/>
              <a:r>
                <a:rPr lang="en-US" dirty="0" smtClean="0">
                  <a:solidFill>
                    <a:schemeClr val="bg1"/>
                  </a:solidFill>
                  <a:latin typeface="Tahoma" panose="020B0604030504040204" pitchFamily="34" charset="0"/>
                  <a:ea typeface="Tahoma" panose="020B0604030504040204" pitchFamily="34" charset="0"/>
                  <a:cs typeface="Tahoma" panose="020B0604030504040204" pitchFamily="34" charset="0"/>
                </a:rPr>
                <a:t>Exploratory Data Analysis</a:t>
              </a:r>
            </a:p>
            <a:p>
              <a:pPr algn="ctr"/>
              <a:r>
                <a:rPr lang="en-US" sz="1400" dirty="0" smtClean="0">
                  <a:latin typeface="Tahoma" panose="020B0604030504040204" pitchFamily="34" charset="0"/>
                  <a:ea typeface="Tahoma" panose="020B0604030504040204" pitchFamily="34" charset="0"/>
                  <a:cs typeface="Tahoma" panose="020B0604030504040204" pitchFamily="34" charset="0"/>
                </a:rPr>
                <a:t>Deriving correlations and feature importance</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16" name="TextBox 15"/>
            <p:cNvSpPr txBox="1"/>
            <p:nvPr/>
          </p:nvSpPr>
          <p:spPr>
            <a:xfrm>
              <a:off x="6088378" y="3908772"/>
              <a:ext cx="5069840" cy="584775"/>
            </a:xfrm>
            <a:prstGeom prst="rect">
              <a:avLst/>
            </a:prstGeom>
            <a:noFill/>
          </p:spPr>
          <p:txBody>
            <a:bodyPr wrap="square" rtlCol="0">
              <a:spAutoFit/>
            </a:bodyPr>
            <a:lstStyle/>
            <a:p>
              <a:pPr algn="ctr"/>
              <a:r>
                <a:rPr lang="en-US" dirty="0" smtClean="0">
                  <a:solidFill>
                    <a:schemeClr val="bg1"/>
                  </a:solidFill>
                  <a:latin typeface="Tahoma" panose="020B0604030504040204" pitchFamily="34" charset="0"/>
                  <a:ea typeface="Tahoma" panose="020B0604030504040204" pitchFamily="34" charset="0"/>
                  <a:cs typeface="Tahoma" panose="020B0604030504040204" pitchFamily="34" charset="0"/>
                </a:rPr>
                <a:t>Feature Engineering</a:t>
              </a:r>
            </a:p>
            <a:p>
              <a:pPr algn="ctr"/>
              <a:r>
                <a:rPr lang="en-US" sz="1400" dirty="0" smtClean="0">
                  <a:solidFill>
                    <a:srgbClr val="8497B0"/>
                  </a:solidFill>
                  <a:latin typeface="Tahoma" panose="020B0604030504040204" pitchFamily="34" charset="0"/>
                  <a:ea typeface="Tahoma" panose="020B0604030504040204" pitchFamily="34" charset="0"/>
                  <a:cs typeface="Tahoma" panose="020B0604030504040204" pitchFamily="34" charset="0"/>
                </a:rPr>
                <a:t>Dividing the data into train, test sets.</a:t>
              </a:r>
              <a:endParaRPr lang="en-US" sz="1400" dirty="0">
                <a:solidFill>
                  <a:srgbClr val="8497B0"/>
                </a:solidFill>
                <a:latin typeface="Tahoma" panose="020B0604030504040204" pitchFamily="34" charset="0"/>
                <a:ea typeface="Tahoma" panose="020B0604030504040204" pitchFamily="34" charset="0"/>
                <a:cs typeface="Tahoma" panose="020B0604030504040204" pitchFamily="34" charset="0"/>
              </a:endParaRPr>
            </a:p>
          </p:txBody>
        </p:sp>
        <p:sp>
          <p:nvSpPr>
            <p:cNvPr id="17" name="TextBox 16"/>
            <p:cNvSpPr txBox="1"/>
            <p:nvPr/>
          </p:nvSpPr>
          <p:spPr>
            <a:xfrm>
              <a:off x="1148080" y="4541520"/>
              <a:ext cx="5069840" cy="584775"/>
            </a:xfrm>
            <a:prstGeom prst="rect">
              <a:avLst/>
            </a:prstGeom>
            <a:noFill/>
          </p:spPr>
          <p:txBody>
            <a:bodyPr wrap="square" rtlCol="0">
              <a:spAutoFit/>
            </a:bodyPr>
            <a:lstStyle/>
            <a:p>
              <a:pPr algn="ctr"/>
              <a:r>
                <a:rPr lang="en-US" dirty="0" smtClean="0">
                  <a:solidFill>
                    <a:schemeClr val="bg1"/>
                  </a:solidFill>
                  <a:latin typeface="Tahoma" panose="020B0604030504040204" pitchFamily="34" charset="0"/>
                  <a:ea typeface="Tahoma" panose="020B0604030504040204" pitchFamily="34" charset="0"/>
                  <a:cs typeface="Tahoma" panose="020B0604030504040204" pitchFamily="34" charset="0"/>
                </a:rPr>
                <a:t>Model Training</a:t>
              </a:r>
            </a:p>
            <a:p>
              <a:pPr algn="ctr"/>
              <a:r>
                <a:rPr lang="en-US" sz="1400" dirty="0" smtClean="0">
                  <a:latin typeface="Tahoma" panose="020B0604030504040204" pitchFamily="34" charset="0"/>
                  <a:ea typeface="Tahoma" panose="020B0604030504040204" pitchFamily="34" charset="0"/>
                  <a:cs typeface="Tahoma" panose="020B0604030504040204" pitchFamily="34" charset="0"/>
                </a:rPr>
                <a:t>Training different models on the data </a:t>
              </a:r>
              <a:endParaRPr lang="en-US" sz="1400" dirty="0">
                <a:latin typeface="Tahoma" panose="020B0604030504040204" pitchFamily="34" charset="0"/>
                <a:ea typeface="Tahoma" panose="020B0604030504040204" pitchFamily="34" charset="0"/>
                <a:cs typeface="Tahoma" panose="020B0604030504040204" pitchFamily="34" charset="0"/>
              </a:endParaRPr>
            </a:p>
          </p:txBody>
        </p:sp>
      </p:grpSp>
      <p:sp>
        <p:nvSpPr>
          <p:cNvPr id="20" name="Rectangle 19"/>
          <p:cNvSpPr/>
          <p:nvPr/>
        </p:nvSpPr>
        <p:spPr>
          <a:xfrm>
            <a:off x="6207227" y="4620040"/>
            <a:ext cx="4810760" cy="680720"/>
          </a:xfrm>
          <a:prstGeom prst="rect">
            <a:avLst/>
          </a:prstGeom>
          <a:solidFill>
            <a:srgbClr val="1C1A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6391175" y="4628752"/>
            <a:ext cx="4598135" cy="646331"/>
          </a:xfrm>
          <a:prstGeom prst="rect">
            <a:avLst/>
          </a:prstGeom>
          <a:noFill/>
        </p:spPr>
        <p:txBody>
          <a:bodyPr wrap="square" rtlCol="0">
            <a:spAutoFit/>
          </a:bodyPr>
          <a:lstStyle/>
          <a:p>
            <a:pPr algn="ctr"/>
            <a:r>
              <a:rPr lang="en-US" dirty="0" smtClean="0">
                <a:solidFill>
                  <a:schemeClr val="bg1"/>
                </a:solidFill>
              </a:rPr>
              <a:t> Model performance</a:t>
            </a:r>
          </a:p>
          <a:p>
            <a:pPr algn="ctr"/>
            <a:r>
              <a:rPr lang="en-US" dirty="0" smtClean="0">
                <a:solidFill>
                  <a:srgbClr val="8497B0"/>
                </a:solidFill>
              </a:rPr>
              <a:t>Comparing and evaluating model performance</a:t>
            </a:r>
            <a:endParaRPr lang="en-US" dirty="0">
              <a:solidFill>
                <a:srgbClr val="8497B0"/>
              </a:solidFill>
            </a:endParaRPr>
          </a:p>
        </p:txBody>
      </p:sp>
      <p:sp>
        <p:nvSpPr>
          <p:cNvPr id="24" name="Rectangle 23"/>
          <p:cNvSpPr/>
          <p:nvPr/>
        </p:nvSpPr>
        <p:spPr>
          <a:xfrm>
            <a:off x="1454152" y="5322871"/>
            <a:ext cx="4810760" cy="680720"/>
          </a:xfrm>
          <a:prstGeom prst="rect">
            <a:avLst/>
          </a:prstGeom>
          <a:solidFill>
            <a:srgbClr val="8497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1532524" y="5318185"/>
            <a:ext cx="4598135" cy="646331"/>
          </a:xfrm>
          <a:prstGeom prst="rect">
            <a:avLst/>
          </a:prstGeom>
          <a:noFill/>
        </p:spPr>
        <p:txBody>
          <a:bodyPr wrap="square" rtlCol="0">
            <a:spAutoFit/>
          </a:bodyPr>
          <a:lstStyle/>
          <a:p>
            <a:pPr algn="ctr"/>
            <a:r>
              <a:rPr lang="en-US" dirty="0" smtClean="0">
                <a:solidFill>
                  <a:schemeClr val="bg1"/>
                </a:solidFill>
              </a:rPr>
              <a:t> Conclusion </a:t>
            </a:r>
            <a:endParaRPr lang="en-US" dirty="0" smtClean="0">
              <a:solidFill>
                <a:srgbClr val="1C1A55"/>
              </a:solidFill>
            </a:endParaRPr>
          </a:p>
          <a:p>
            <a:pPr algn="ctr"/>
            <a:r>
              <a:rPr lang="en-US" dirty="0" smtClean="0">
                <a:solidFill>
                  <a:srgbClr val="1C1A55"/>
                </a:solidFill>
              </a:rPr>
              <a:t>Inferences from the project</a:t>
            </a:r>
            <a:endParaRPr lang="en-US" dirty="0" smtClean="0">
              <a:solidFill>
                <a:schemeClr val="bg1"/>
              </a:solidFill>
            </a:endParaRPr>
          </a:p>
        </p:txBody>
      </p:sp>
      <p:sp>
        <p:nvSpPr>
          <p:cNvPr id="27" name="TextBox 26"/>
          <p:cNvSpPr txBox="1"/>
          <p:nvPr/>
        </p:nvSpPr>
        <p:spPr>
          <a:xfrm>
            <a:off x="1033649" y="1295191"/>
            <a:ext cx="498875" cy="523220"/>
          </a:xfrm>
          <a:prstGeom prst="rect">
            <a:avLst/>
          </a:prstGeom>
          <a:noFill/>
        </p:spPr>
        <p:txBody>
          <a:bodyPr wrap="square" rtlCol="0">
            <a:spAutoFit/>
          </a:bodyPr>
          <a:lstStyle/>
          <a:p>
            <a:r>
              <a:rPr lang="en-US" sz="2800" dirty="0" smtClean="0">
                <a:solidFill>
                  <a:srgbClr val="1C1A55"/>
                </a:solidFill>
              </a:rPr>
              <a:t>1.</a:t>
            </a:r>
            <a:endParaRPr lang="en-US" sz="2800" dirty="0">
              <a:solidFill>
                <a:srgbClr val="1C1A55"/>
              </a:solidFill>
            </a:endParaRPr>
          </a:p>
        </p:txBody>
      </p:sp>
      <p:sp>
        <p:nvSpPr>
          <p:cNvPr id="28" name="TextBox 27"/>
          <p:cNvSpPr txBox="1"/>
          <p:nvPr/>
        </p:nvSpPr>
        <p:spPr>
          <a:xfrm>
            <a:off x="5739268" y="1967428"/>
            <a:ext cx="498875" cy="523220"/>
          </a:xfrm>
          <a:prstGeom prst="rect">
            <a:avLst/>
          </a:prstGeom>
          <a:noFill/>
        </p:spPr>
        <p:txBody>
          <a:bodyPr wrap="square" rtlCol="0">
            <a:spAutoFit/>
          </a:bodyPr>
          <a:lstStyle/>
          <a:p>
            <a:r>
              <a:rPr lang="en-US" sz="2800" dirty="0">
                <a:solidFill>
                  <a:srgbClr val="1C1A55"/>
                </a:solidFill>
              </a:rPr>
              <a:t>2</a:t>
            </a:r>
            <a:r>
              <a:rPr lang="en-US" sz="2800" dirty="0" smtClean="0">
                <a:solidFill>
                  <a:srgbClr val="1C1A55"/>
                </a:solidFill>
              </a:rPr>
              <a:t>.</a:t>
            </a:r>
            <a:endParaRPr lang="en-US" sz="2800" dirty="0">
              <a:solidFill>
                <a:srgbClr val="1C1A55"/>
              </a:solidFill>
            </a:endParaRPr>
          </a:p>
        </p:txBody>
      </p:sp>
      <p:sp>
        <p:nvSpPr>
          <p:cNvPr id="29" name="TextBox 28"/>
          <p:cNvSpPr txBox="1"/>
          <p:nvPr/>
        </p:nvSpPr>
        <p:spPr>
          <a:xfrm>
            <a:off x="1033649" y="2696006"/>
            <a:ext cx="498875" cy="523220"/>
          </a:xfrm>
          <a:prstGeom prst="rect">
            <a:avLst/>
          </a:prstGeom>
          <a:noFill/>
        </p:spPr>
        <p:txBody>
          <a:bodyPr wrap="square" rtlCol="0">
            <a:spAutoFit/>
          </a:bodyPr>
          <a:lstStyle/>
          <a:p>
            <a:r>
              <a:rPr lang="en-US" sz="2800" dirty="0">
                <a:solidFill>
                  <a:srgbClr val="1C1A55"/>
                </a:solidFill>
              </a:rPr>
              <a:t>3</a:t>
            </a:r>
            <a:r>
              <a:rPr lang="en-US" sz="2800" dirty="0" smtClean="0">
                <a:solidFill>
                  <a:srgbClr val="1C1A55"/>
                </a:solidFill>
              </a:rPr>
              <a:t>.</a:t>
            </a:r>
            <a:endParaRPr lang="en-US" sz="2800" dirty="0">
              <a:solidFill>
                <a:srgbClr val="1C1A55"/>
              </a:solidFill>
            </a:endParaRPr>
          </a:p>
        </p:txBody>
      </p:sp>
      <p:sp>
        <p:nvSpPr>
          <p:cNvPr id="30" name="TextBox 29"/>
          <p:cNvSpPr txBox="1"/>
          <p:nvPr/>
        </p:nvSpPr>
        <p:spPr>
          <a:xfrm>
            <a:off x="5747422" y="3337579"/>
            <a:ext cx="498875" cy="523220"/>
          </a:xfrm>
          <a:prstGeom prst="rect">
            <a:avLst/>
          </a:prstGeom>
          <a:noFill/>
        </p:spPr>
        <p:txBody>
          <a:bodyPr wrap="square" rtlCol="0">
            <a:spAutoFit/>
          </a:bodyPr>
          <a:lstStyle/>
          <a:p>
            <a:r>
              <a:rPr lang="en-US" sz="2800" dirty="0">
                <a:solidFill>
                  <a:srgbClr val="1C1A55"/>
                </a:solidFill>
              </a:rPr>
              <a:t>4</a:t>
            </a:r>
            <a:r>
              <a:rPr lang="en-US" sz="2800" dirty="0" smtClean="0">
                <a:solidFill>
                  <a:srgbClr val="1C1A55"/>
                </a:solidFill>
              </a:rPr>
              <a:t>.</a:t>
            </a:r>
            <a:endParaRPr lang="en-US" sz="2800" dirty="0">
              <a:solidFill>
                <a:srgbClr val="1C1A55"/>
              </a:solidFill>
            </a:endParaRPr>
          </a:p>
        </p:txBody>
      </p:sp>
      <p:sp>
        <p:nvSpPr>
          <p:cNvPr id="31" name="TextBox 30"/>
          <p:cNvSpPr txBox="1"/>
          <p:nvPr/>
        </p:nvSpPr>
        <p:spPr>
          <a:xfrm>
            <a:off x="1042672" y="4022987"/>
            <a:ext cx="498875" cy="523220"/>
          </a:xfrm>
          <a:prstGeom prst="rect">
            <a:avLst/>
          </a:prstGeom>
          <a:noFill/>
        </p:spPr>
        <p:txBody>
          <a:bodyPr wrap="square" rtlCol="0">
            <a:spAutoFit/>
          </a:bodyPr>
          <a:lstStyle/>
          <a:p>
            <a:r>
              <a:rPr lang="en-US" sz="2800" dirty="0">
                <a:solidFill>
                  <a:srgbClr val="1C1A55"/>
                </a:solidFill>
              </a:rPr>
              <a:t>5</a:t>
            </a:r>
            <a:r>
              <a:rPr lang="en-US" sz="2800" dirty="0" smtClean="0">
                <a:solidFill>
                  <a:srgbClr val="1C1A55"/>
                </a:solidFill>
              </a:rPr>
              <a:t>.</a:t>
            </a:r>
            <a:endParaRPr lang="en-US" sz="2800" dirty="0">
              <a:solidFill>
                <a:srgbClr val="1C1A55"/>
              </a:solidFill>
            </a:endParaRPr>
          </a:p>
        </p:txBody>
      </p:sp>
      <p:sp>
        <p:nvSpPr>
          <p:cNvPr id="32" name="TextBox 31"/>
          <p:cNvSpPr txBox="1"/>
          <p:nvPr/>
        </p:nvSpPr>
        <p:spPr>
          <a:xfrm>
            <a:off x="5747422" y="4751863"/>
            <a:ext cx="498875" cy="523220"/>
          </a:xfrm>
          <a:prstGeom prst="rect">
            <a:avLst/>
          </a:prstGeom>
          <a:noFill/>
        </p:spPr>
        <p:txBody>
          <a:bodyPr wrap="square" rtlCol="0">
            <a:spAutoFit/>
          </a:bodyPr>
          <a:lstStyle/>
          <a:p>
            <a:r>
              <a:rPr lang="en-US" sz="2800" dirty="0">
                <a:solidFill>
                  <a:srgbClr val="1C1A55"/>
                </a:solidFill>
              </a:rPr>
              <a:t>6</a:t>
            </a:r>
            <a:r>
              <a:rPr lang="en-US" sz="2800" dirty="0" smtClean="0">
                <a:solidFill>
                  <a:srgbClr val="1C1A55"/>
                </a:solidFill>
              </a:rPr>
              <a:t>.</a:t>
            </a:r>
            <a:endParaRPr lang="en-US" sz="2800" dirty="0">
              <a:solidFill>
                <a:srgbClr val="1C1A55"/>
              </a:solidFill>
            </a:endParaRPr>
          </a:p>
        </p:txBody>
      </p:sp>
      <p:sp>
        <p:nvSpPr>
          <p:cNvPr id="33" name="TextBox 32"/>
          <p:cNvSpPr txBox="1"/>
          <p:nvPr/>
        </p:nvSpPr>
        <p:spPr>
          <a:xfrm>
            <a:off x="1033648" y="5432514"/>
            <a:ext cx="498875" cy="523220"/>
          </a:xfrm>
          <a:prstGeom prst="rect">
            <a:avLst/>
          </a:prstGeom>
          <a:noFill/>
        </p:spPr>
        <p:txBody>
          <a:bodyPr wrap="square" rtlCol="0">
            <a:spAutoFit/>
          </a:bodyPr>
          <a:lstStyle/>
          <a:p>
            <a:r>
              <a:rPr lang="en-US" sz="2800" dirty="0">
                <a:solidFill>
                  <a:srgbClr val="1C1A55"/>
                </a:solidFill>
              </a:rPr>
              <a:t>7</a:t>
            </a:r>
            <a:r>
              <a:rPr lang="en-US" sz="2800" dirty="0" smtClean="0">
                <a:solidFill>
                  <a:srgbClr val="1C1A55"/>
                </a:solidFill>
              </a:rPr>
              <a:t>.</a:t>
            </a:r>
            <a:endParaRPr lang="en-US" sz="2800" dirty="0">
              <a:solidFill>
                <a:srgbClr val="1C1A55"/>
              </a:solidFill>
            </a:endParaRPr>
          </a:p>
        </p:txBody>
      </p:sp>
    </p:spTree>
    <p:extLst>
      <p:ext uri="{BB962C8B-B14F-4D97-AF65-F5344CB8AC3E}">
        <p14:creationId xmlns:p14="http://schemas.microsoft.com/office/powerpoint/2010/main" val="3721149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IN" dirty="0" smtClean="0"/>
              <a:t>Introduction</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387929"/>
            <a:ext cx="10834234" cy="4685212"/>
          </a:xfrm>
        </p:spPr>
        <p:txBody>
          <a:bodyPr>
            <a:normAutofit/>
          </a:bodyPr>
          <a:lstStyle/>
          <a:p>
            <a:r>
              <a:rPr lang="en-US" sz="2200" dirty="0" smtClean="0">
                <a:solidFill>
                  <a:srgbClr val="21275D"/>
                </a:solidFill>
                <a:latin typeface="Tahoma" panose="020B0604030504040204" pitchFamily="34" charset="0"/>
                <a:ea typeface="Tahoma" panose="020B0604030504040204" pitchFamily="34" charset="0"/>
                <a:cs typeface="Tahoma" panose="020B0604030504040204" pitchFamily="34" charset="0"/>
              </a:rPr>
              <a:t>Stellar object detection is a critical area of research in astronomy and astrophysics, focusing on identifying and classifying various celestial bodies such as stars, galaxies, nebulae, and other astronomical phenomena. With the vast amount of data generated by telescopes and space observatories, automated detection and classification systems are essential for efficiently analyzing and understanding the universe.</a:t>
            </a:r>
          </a:p>
          <a:p>
            <a:r>
              <a:rPr lang="en-US" sz="2200" dirty="0" smtClean="0">
                <a:solidFill>
                  <a:srgbClr val="21275D"/>
                </a:solidFill>
                <a:latin typeface="Tahoma" panose="020B0604030504040204" pitchFamily="34" charset="0"/>
                <a:ea typeface="Tahoma" panose="020B0604030504040204" pitchFamily="34" charset="0"/>
                <a:cs typeface="Tahoma" panose="020B0604030504040204" pitchFamily="34" charset="0"/>
              </a:rPr>
              <a:t>The process involves using advanced machine learning techniques, particularly in image processing, to detect these objects within large datasets of astronomical images. Accurate detection helps astronomers study the characteristics, behavior, and evolution of celestial objects, contributing to our understanding of the cosmos. This field also aids in discovering new objects and phenomena, which could lead to significant scientific breakthroughs.</a:t>
            </a:r>
          </a:p>
          <a:p>
            <a:r>
              <a:rPr lang="en-US" sz="2200" dirty="0" smtClean="0">
                <a:solidFill>
                  <a:srgbClr val="21275D"/>
                </a:solidFill>
                <a:latin typeface="Tahoma" panose="020B0604030504040204" pitchFamily="34" charset="0"/>
                <a:ea typeface="Tahoma" panose="020B0604030504040204" pitchFamily="34" charset="0"/>
                <a:cs typeface="Tahoma" panose="020B0604030504040204" pitchFamily="34" charset="0"/>
              </a:rPr>
              <a:t>The aim of this project is to implement the knowledge acquired, to implement a machine learning model, in order to automatically detect a stellar object.</a:t>
            </a:r>
          </a:p>
          <a:p>
            <a:endParaRPr lang="en-IN" dirty="0"/>
          </a:p>
        </p:txBody>
      </p:sp>
    </p:spTree>
    <p:extLst>
      <p:ext uri="{BB962C8B-B14F-4D97-AF65-F5344CB8AC3E}">
        <p14:creationId xmlns:p14="http://schemas.microsoft.com/office/powerpoint/2010/main" val="195380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smtClean="0"/>
              <a:t>Goal of the project</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US" sz="2400" dirty="0">
                <a:latin typeface="Tahoma" panose="020B0604030504040204" pitchFamily="34" charset="0"/>
                <a:ea typeface="Tahoma" panose="020B0604030504040204" pitchFamily="34" charset="0"/>
                <a:cs typeface="Tahoma" panose="020B0604030504040204" pitchFamily="34" charset="0"/>
              </a:rPr>
              <a:t>This project aims to develop machine learning models to classify celestial objects into stars, galaxies, and quasars. This project aims to </a:t>
            </a:r>
            <a:r>
              <a:rPr lang="en-US" sz="2400" dirty="0" smtClean="0">
                <a:latin typeface="Tahoma" panose="020B0604030504040204" pitchFamily="34" charset="0"/>
                <a:ea typeface="Tahoma" panose="020B0604030504040204" pitchFamily="34" charset="0"/>
                <a:cs typeface="Tahoma" panose="020B0604030504040204" pitchFamily="34" charset="0"/>
              </a:rPr>
              <a:t>facilitate </a:t>
            </a:r>
            <a:r>
              <a:rPr lang="en-US" sz="2400" dirty="0">
                <a:latin typeface="Tahoma" panose="020B0604030504040204" pitchFamily="34" charset="0"/>
                <a:ea typeface="Tahoma" panose="020B0604030504040204" pitchFamily="34" charset="0"/>
                <a:cs typeface="Tahoma" panose="020B0604030504040204" pitchFamily="34" charset="0"/>
              </a:rPr>
              <a:t>efficient automated classification, insights into distinguishing features, and optimized data processing for large-scale surveys through the predictive models, data visualizations, and a comparative analysis of various algorithms</a:t>
            </a:r>
            <a:r>
              <a:rPr lang="en-US" sz="2400" dirty="0" smtClean="0">
                <a:latin typeface="Tahoma" panose="020B0604030504040204" pitchFamily="34" charset="0"/>
                <a:ea typeface="Tahoma" panose="020B0604030504040204" pitchFamily="34" charset="0"/>
                <a:cs typeface="Tahoma" panose="020B0604030504040204" pitchFamily="34" charset="0"/>
              </a:rPr>
              <a:t>.</a:t>
            </a:r>
            <a:endParaRPr lang="en-US" sz="2400" dirty="0">
              <a:latin typeface="Tahoma" panose="020B0604030504040204" pitchFamily="34" charset="0"/>
              <a:ea typeface="Tahoma" panose="020B0604030504040204" pitchFamily="34" charset="0"/>
              <a:cs typeface="Tahoma" panose="020B0604030504040204" pitchFamily="34" charset="0"/>
            </a:endParaRPr>
          </a:p>
          <a:p>
            <a:endParaRPr lang="en-US"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272459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lstStyle/>
          <a:p>
            <a:r>
              <a:rPr lang="en-IN" dirty="0" smtClean="0"/>
              <a:t>Data Collection</a:t>
            </a:r>
            <a:endParaRPr lang="en-IN" dirty="0"/>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p:txBody>
          <a:bodyPr>
            <a:normAutofit fontScale="92500" lnSpcReduction="10000"/>
          </a:bodyPr>
          <a:lstStyle/>
          <a:p>
            <a:r>
              <a:rPr lang="en-IN" sz="2000" dirty="0" smtClean="0"/>
              <a:t>The data used in this project is from the </a:t>
            </a:r>
            <a:r>
              <a:rPr lang="en-US" sz="2000" dirty="0" smtClean="0"/>
              <a:t>Sloan </a:t>
            </a:r>
            <a:r>
              <a:rPr lang="en-US" sz="2000" dirty="0"/>
              <a:t>Digital Sky Survey (SDSS) </a:t>
            </a:r>
            <a:r>
              <a:rPr lang="en-US" sz="2000" dirty="0" smtClean="0"/>
              <a:t>dataset, which </a:t>
            </a:r>
            <a:r>
              <a:rPr lang="en-US" sz="2000" dirty="0"/>
              <a:t>is one of the most extensive and detailed astronomical datasets available, widely used in the field of astrophysics for research and analysis</a:t>
            </a:r>
            <a:r>
              <a:rPr lang="en-US" sz="2000" dirty="0" smtClean="0"/>
              <a:t>.</a:t>
            </a:r>
          </a:p>
          <a:p>
            <a:r>
              <a:rPr lang="en-US" sz="2000" dirty="0">
                <a:latin typeface="Tahoma" panose="020B0604030504040204" pitchFamily="34" charset="0"/>
                <a:ea typeface="Tahoma" panose="020B0604030504040204" pitchFamily="34" charset="0"/>
                <a:cs typeface="Tahoma" panose="020B0604030504040204" pitchFamily="34" charset="0"/>
              </a:rPr>
              <a:t>The SDSS is a multi-spectral imaging and spectroscopic redshift survey, conducted using a dedicated 2.5-meter telescope at Apache Point Observatory in New Mexico, USA. </a:t>
            </a:r>
            <a:endParaRPr lang="en-IN" sz="2000" dirty="0">
              <a:latin typeface="Tahoma" panose="020B0604030504040204" pitchFamily="34" charset="0"/>
              <a:ea typeface="Tahoma" panose="020B0604030504040204" pitchFamily="34" charset="0"/>
              <a:cs typeface="Tahoma" panose="020B0604030504040204" pitchFamily="34" charset="0"/>
            </a:endParaRPr>
          </a:p>
          <a:p>
            <a:r>
              <a:rPr lang="en-US" sz="2000" dirty="0"/>
              <a:t>The primary goal of the SDSS is to map the universe in three dimensions by observing the sky in five different color bands, capturing images and spectra of millions of celestial objects, including stars, galaxies, and quasars.</a:t>
            </a:r>
            <a:endParaRPr lang="en-IN" sz="2000" dirty="0"/>
          </a:p>
        </p:txBody>
      </p:sp>
      <p:sp>
        <p:nvSpPr>
          <p:cNvPr id="6" name="Content Placeholder 4">
            <a:extLst>
              <a:ext uri="{FF2B5EF4-FFF2-40B4-BE49-F238E27FC236}">
                <a16:creationId xmlns:a16="http://schemas.microsoft.com/office/drawing/2014/main" id="{911E276C-DF85-3591-E888-F5B1B9B1522C}"/>
              </a:ext>
            </a:extLst>
          </p:cNvPr>
          <p:cNvSpPr txBox="1">
            <a:spLocks/>
          </p:cNvSpPr>
          <p:nvPr/>
        </p:nvSpPr>
        <p:spPr>
          <a:xfrm>
            <a:off x="6462060" y="1659836"/>
            <a:ext cx="5107239" cy="43980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3896"/>
          <a:stretch/>
        </p:blipFill>
        <p:spPr>
          <a:xfrm>
            <a:off x="6766560" y="1143095"/>
            <a:ext cx="4667985" cy="4035297"/>
          </a:xfrm>
          <a:prstGeom prst="rect">
            <a:avLst/>
          </a:prstGeom>
        </p:spPr>
      </p:pic>
      <p:sp>
        <p:nvSpPr>
          <p:cNvPr id="7" name="TextBox 6"/>
          <p:cNvSpPr txBox="1"/>
          <p:nvPr/>
        </p:nvSpPr>
        <p:spPr>
          <a:xfrm>
            <a:off x="7016682" y="5178392"/>
            <a:ext cx="4167739" cy="369332"/>
          </a:xfrm>
          <a:prstGeom prst="rect">
            <a:avLst/>
          </a:prstGeom>
          <a:noFill/>
        </p:spPr>
        <p:txBody>
          <a:bodyPr wrap="square" rtlCol="0">
            <a:spAutoFit/>
          </a:bodyPr>
          <a:lstStyle/>
          <a:p>
            <a:r>
              <a:rPr lang="en-US" dirty="0" smtClean="0">
                <a:solidFill>
                  <a:schemeClr val="bg1"/>
                </a:solidFill>
              </a:rPr>
              <a:t>Image: Generated using MS designer AI</a:t>
            </a:r>
            <a:endParaRPr lang="en-US" dirty="0">
              <a:solidFill>
                <a:schemeClr val="bg1"/>
              </a:solidFill>
            </a:endParaRPr>
          </a:p>
        </p:txBody>
      </p:sp>
    </p:spTree>
    <p:extLst>
      <p:ext uri="{BB962C8B-B14F-4D97-AF65-F5344CB8AC3E}">
        <p14:creationId xmlns:p14="http://schemas.microsoft.com/office/powerpoint/2010/main" val="1344420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400" dirty="0" smtClean="0"/>
              <a:t>The dataset contains the following columns.</a:t>
            </a:r>
          </a:p>
          <a:p>
            <a:r>
              <a:rPr lang="en-IN" sz="2400" dirty="0" err="1"/>
              <a:t>obj_ID</a:t>
            </a:r>
            <a:r>
              <a:rPr lang="en-IN" sz="2400" dirty="0"/>
              <a:t>: Object Identifier, the unique value that identifies the object in the image </a:t>
            </a:r>
            <a:r>
              <a:rPr lang="en-IN" sz="2400" dirty="0" smtClean="0"/>
              <a:t>catalogue </a:t>
            </a:r>
            <a:r>
              <a:rPr lang="en-IN" sz="2400" dirty="0"/>
              <a:t>used by the CAS</a:t>
            </a:r>
            <a:endParaRPr lang="en-US" sz="2400" dirty="0"/>
          </a:p>
          <a:p>
            <a:pPr lvl="0"/>
            <a:r>
              <a:rPr lang="en-IN" sz="2400" dirty="0"/>
              <a:t>alpha</a:t>
            </a:r>
            <a:r>
              <a:rPr lang="en-IN" sz="2400" dirty="0" smtClean="0"/>
              <a:t>: </a:t>
            </a:r>
            <a:r>
              <a:rPr lang="en-US" altLang="en-US" sz="1900" dirty="0">
                <a:latin typeface="Arial" panose="020B0604020202020204" pitchFamily="34" charset="0"/>
              </a:rPr>
              <a:t>Right ascension (RA), denoted by </a:t>
            </a:r>
            <a:r>
              <a:rPr lang="en-US" altLang="en-US" sz="1900" dirty="0">
                <a:latin typeface="Arial Unicode MS"/>
              </a:rPr>
              <a:t>alpha</a:t>
            </a:r>
            <a:r>
              <a:rPr lang="en-US" altLang="en-US" sz="1900" dirty="0"/>
              <a:t>, is the angular distance of a celestial object measured eastward along the celestial equator from the vernal equinox. </a:t>
            </a:r>
            <a:endParaRPr lang="en-US" altLang="en-US" sz="1900" dirty="0">
              <a:latin typeface="Arial" panose="020B0604020202020204" pitchFamily="34" charset="0"/>
            </a:endParaRPr>
          </a:p>
          <a:p>
            <a:pPr lvl="0"/>
            <a:r>
              <a:rPr lang="en-IN" sz="2400" dirty="0" smtClean="0"/>
              <a:t> delta</a:t>
            </a:r>
            <a:r>
              <a:rPr lang="en-IN" sz="2400" dirty="0"/>
              <a:t>: </a:t>
            </a:r>
            <a:r>
              <a:rPr lang="en-US" altLang="en-US" sz="2000" dirty="0">
                <a:latin typeface="Arial" panose="020B0604020202020204" pitchFamily="34" charset="0"/>
              </a:rPr>
              <a:t>Declination (DEC), denoted by </a:t>
            </a:r>
            <a:r>
              <a:rPr lang="en-US" altLang="en-US" sz="2000" dirty="0">
                <a:latin typeface="Arial Unicode MS"/>
              </a:rPr>
              <a:t>delta</a:t>
            </a:r>
            <a:r>
              <a:rPr lang="en-US" altLang="en-US" sz="2000" dirty="0"/>
              <a:t>, is the angular distance of a celestial object north or south of the celestial equator. </a:t>
            </a:r>
            <a:endParaRPr lang="en-US" altLang="en-US" sz="2000" dirty="0">
              <a:latin typeface="Arial" panose="020B0604020202020204" pitchFamily="34" charset="0"/>
            </a:endParaRPr>
          </a:p>
          <a:p>
            <a:r>
              <a:rPr lang="en-IN" sz="2400" dirty="0" smtClean="0"/>
              <a:t>u</a:t>
            </a:r>
            <a:r>
              <a:rPr lang="en-IN" sz="2400" dirty="0"/>
              <a:t>: Ultraviolet filter in the photometric system</a:t>
            </a:r>
            <a:endParaRPr lang="en-US" sz="2400" dirty="0"/>
          </a:p>
          <a:p>
            <a:r>
              <a:rPr lang="en-IN" sz="2400" dirty="0"/>
              <a:t>g: Green filter in the photometric system</a:t>
            </a:r>
            <a:endParaRPr lang="en-US" sz="2400" dirty="0"/>
          </a:p>
          <a:p>
            <a:r>
              <a:rPr lang="en-IN" sz="2400" dirty="0"/>
              <a:t>r: Red filter in the photometric system</a:t>
            </a:r>
            <a:endParaRPr lang="en-US" sz="2400" dirty="0"/>
          </a:p>
          <a:p>
            <a:r>
              <a:rPr lang="en-IN" sz="2400" dirty="0"/>
              <a:t>i: Near Infrared filter in the photometric system</a:t>
            </a:r>
            <a:endParaRPr lang="en-US" sz="2400" dirty="0"/>
          </a:p>
          <a:p>
            <a:r>
              <a:rPr lang="en-IN" sz="2400" dirty="0"/>
              <a:t>z: Infrared filter in the photometric system</a:t>
            </a:r>
            <a:endParaRPr lang="en-US" sz="2400" dirty="0"/>
          </a:p>
          <a:p>
            <a:endParaRPr lang="en-US" dirty="0"/>
          </a:p>
        </p:txBody>
      </p:sp>
      <p:sp>
        <p:nvSpPr>
          <p:cNvPr id="3" name="Title 2"/>
          <p:cNvSpPr>
            <a:spLocks noGrp="1"/>
          </p:cNvSpPr>
          <p:nvPr>
            <p:ph type="title"/>
          </p:nvPr>
        </p:nvSpPr>
        <p:spPr>
          <a:xfrm>
            <a:off x="298383" y="2049670"/>
            <a:ext cx="3590223" cy="2522330"/>
          </a:xfrm>
        </p:spPr>
        <p:txBody>
          <a:bodyPr/>
          <a:lstStyle/>
          <a:p>
            <a:r>
              <a:rPr lang="en-US" dirty="0" smtClean="0">
                <a:latin typeface="Tahoma" panose="020B0604030504040204" pitchFamily="34" charset="0"/>
                <a:ea typeface="Tahoma" panose="020B0604030504040204" pitchFamily="34" charset="0"/>
                <a:cs typeface="Tahoma" panose="020B0604030504040204" pitchFamily="34" charset="0"/>
              </a:rPr>
              <a:t>Understanding Features</a:t>
            </a:r>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1073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8882" y="325120"/>
            <a:ext cx="7276398" cy="5732781"/>
          </a:xfrm>
        </p:spPr>
        <p:txBody>
          <a:bodyPr>
            <a:noAutofit/>
          </a:bodyPr>
          <a:lstStyle/>
          <a:p>
            <a:r>
              <a:rPr lang="en-IN" sz="1800" dirty="0" err="1">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run_ID</a:t>
            </a:r>
            <a:r>
              <a:rPr lang="en-IN"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 Run Number used to identify the specific scan</a:t>
            </a:r>
            <a:endParaRPr lang="en-US"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endParaRPr>
          </a:p>
          <a:p>
            <a:r>
              <a:rPr lang="en-IN" sz="1800" dirty="0" err="1">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rereun_ID</a:t>
            </a:r>
            <a:r>
              <a:rPr lang="en-IN"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 Rerun Number to specify how the image was processed</a:t>
            </a:r>
            <a:endParaRPr lang="en-US"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endParaRPr>
          </a:p>
          <a:p>
            <a:r>
              <a:rPr lang="en-IN" sz="1800" dirty="0" err="1">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cam_col</a:t>
            </a:r>
            <a:r>
              <a:rPr lang="en-IN"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 Camera column to identify the scanline within the run</a:t>
            </a:r>
            <a:endParaRPr lang="en-US"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endParaRPr>
          </a:p>
          <a:p>
            <a:r>
              <a:rPr lang="en-IN" sz="1800" dirty="0" err="1">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field_ID</a:t>
            </a:r>
            <a:r>
              <a:rPr lang="en-IN"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 Field number to identify each field</a:t>
            </a:r>
            <a:endParaRPr lang="en-US"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endParaRPr>
          </a:p>
          <a:p>
            <a:r>
              <a:rPr lang="en-IN" sz="1800" dirty="0" err="1">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spec_obj_ID</a:t>
            </a:r>
            <a:r>
              <a:rPr lang="en-IN"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 Unique ID used for optical spectroscopic objects (this means that 2 different observations with the same </a:t>
            </a:r>
            <a:r>
              <a:rPr lang="en-IN" sz="1800" dirty="0" err="1">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spec_obj_ID</a:t>
            </a:r>
            <a:r>
              <a:rPr lang="en-IN"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 must share the output class)</a:t>
            </a:r>
            <a:endParaRPr lang="en-US"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endParaRPr>
          </a:p>
          <a:p>
            <a:r>
              <a:rPr lang="en-IN"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class: object class (galaxy, star or quasar object)</a:t>
            </a:r>
            <a:endParaRPr lang="en-US"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endParaRPr>
          </a:p>
          <a:p>
            <a:r>
              <a:rPr lang="en-IN"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redshift: redshift value based on the increase in wavelength</a:t>
            </a:r>
            <a:endParaRPr lang="en-US"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endParaRPr>
          </a:p>
          <a:p>
            <a:r>
              <a:rPr lang="en-IN"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plate: plate ID, identifies each plate in SDSS</a:t>
            </a:r>
            <a:endParaRPr lang="en-US"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endParaRPr>
          </a:p>
          <a:p>
            <a:r>
              <a:rPr lang="en-IN"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MJD: Modified Julian Date, used to indicate when a given piece of SDSS data was taken</a:t>
            </a:r>
            <a:endParaRPr lang="en-US"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endParaRPr>
          </a:p>
          <a:p>
            <a:r>
              <a:rPr lang="en-IN" sz="1800" dirty="0" err="1">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fiber_ID</a:t>
            </a:r>
            <a:r>
              <a:rPr lang="en-IN"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 </a:t>
            </a:r>
            <a:r>
              <a:rPr lang="en-IN" sz="1800" dirty="0" err="1">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fiber</a:t>
            </a:r>
            <a:r>
              <a:rPr lang="en-IN"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 ID that identifies the </a:t>
            </a:r>
            <a:r>
              <a:rPr lang="en-IN" sz="1800" dirty="0" err="1">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fiber</a:t>
            </a:r>
            <a:r>
              <a:rPr lang="en-IN"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 that pointed the light at the focal plane in each </a:t>
            </a:r>
            <a:r>
              <a:rPr lang="en-IN" sz="1800" dirty="0" smtClean="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observation</a:t>
            </a:r>
          </a:p>
          <a:p>
            <a:r>
              <a:rPr lang="en-IN" sz="1800" dirty="0" smtClean="0">
                <a:solidFill>
                  <a:schemeClr val="bg2">
                    <a:lumMod val="25000"/>
                  </a:schemeClr>
                </a:solidFill>
                <a:latin typeface="Arial" panose="020B0604020202020204" pitchFamily="34" charset="0"/>
                <a:ea typeface="Tahoma" panose="020B0604030504040204" pitchFamily="34" charset="0"/>
                <a:cs typeface="Arial" panose="020B0604020202020204" pitchFamily="34" charset="0"/>
              </a:rPr>
              <a:t>The dataset contains 100000 rows and 18 columns, which do not have null values.</a:t>
            </a:r>
            <a:endParaRPr lang="en-US" sz="1800" dirty="0">
              <a:solidFill>
                <a:schemeClr val="bg2">
                  <a:lumMod val="25000"/>
                </a:schemeClr>
              </a:solidFill>
              <a:latin typeface="Arial" panose="020B0604020202020204" pitchFamily="34" charset="0"/>
              <a:ea typeface="Tahoma" panose="020B0604030504040204" pitchFamily="34" charset="0"/>
              <a:cs typeface="Arial" panose="020B0604020202020204" pitchFamily="34" charset="0"/>
            </a:endParaRPr>
          </a:p>
        </p:txBody>
      </p:sp>
      <p:sp>
        <p:nvSpPr>
          <p:cNvPr id="4" name="Rectangle 1"/>
          <p:cNvSpPr>
            <a:spLocks noChangeArrowheads="1"/>
          </p:cNvSpPr>
          <p:nvPr/>
        </p:nvSpPr>
        <p:spPr bwMode="auto">
          <a:xfrm>
            <a:off x="0" y="0"/>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Courier New" panose="02070309020205020404" pitchFamily="49" charset="0"/>
              </a:rPr>
              <a:t>100000</a:t>
            </a:r>
            <a:r>
              <a:rPr kumimoji="0" lang="en-US" altLang="en-US" sz="8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152400" y="152400"/>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Courier New" panose="02070309020205020404" pitchFamily="49" charset="0"/>
                <a:cs typeface="Courier New" panose="02070309020205020404" pitchFamily="49" charset="0"/>
              </a:rPr>
              <a:t>100000</a:t>
            </a:r>
            <a:r>
              <a:rPr kumimoji="0" lang="en-US" altLang="en-US" sz="8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6198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8881" y="508000"/>
            <a:ext cx="5107239" cy="5549902"/>
          </a:xfrm>
        </p:spPr>
        <p:txBody>
          <a:bodyPr>
            <a:normAutofit/>
          </a:bodyPr>
          <a:lstStyle/>
          <a:p>
            <a:r>
              <a:rPr lang="en-US" sz="1800" dirty="0" smtClean="0"/>
              <a:t>The dataset has:</a:t>
            </a:r>
          </a:p>
          <a:p>
            <a:pPr lvl="1"/>
            <a:r>
              <a:rPr lang="en-US" sz="1800" dirty="0" smtClean="0"/>
              <a:t>59445 rows for class Galaxy</a:t>
            </a:r>
          </a:p>
          <a:p>
            <a:pPr lvl="1"/>
            <a:r>
              <a:rPr lang="en-US" sz="1800" dirty="0" smtClean="0"/>
              <a:t>21594 rows for class Star</a:t>
            </a:r>
          </a:p>
          <a:p>
            <a:pPr lvl="1"/>
            <a:r>
              <a:rPr lang="en-US" sz="1800" dirty="0" smtClean="0"/>
              <a:t>18961 rows for class Quasar</a:t>
            </a:r>
          </a:p>
          <a:p>
            <a:pPr lvl="1"/>
            <a:endParaRPr lang="en-US" sz="1800" dirty="0" smtClean="0"/>
          </a:p>
          <a:p>
            <a:r>
              <a:rPr lang="en-US" sz="1800" dirty="0" smtClean="0"/>
              <a:t>This makes the dataset have the following distribution.</a:t>
            </a:r>
            <a:endParaRPr lang="en-US" sz="1800" dirty="0"/>
          </a:p>
        </p:txBody>
      </p:sp>
      <p:pic>
        <p:nvPicPr>
          <p:cNvPr id="5" name="Picture 4"/>
          <p:cNvPicPr>
            <a:picLocks noChangeAspect="1"/>
          </p:cNvPicPr>
          <p:nvPr/>
        </p:nvPicPr>
        <p:blipFill>
          <a:blip r:embed="rId2"/>
          <a:stretch>
            <a:fillRect/>
          </a:stretch>
        </p:blipFill>
        <p:spPr>
          <a:xfrm>
            <a:off x="6439511" y="701040"/>
            <a:ext cx="5459585" cy="4196080"/>
          </a:xfrm>
          <a:prstGeom prst="rect">
            <a:avLst/>
          </a:prstGeom>
        </p:spPr>
      </p:pic>
      <p:pic>
        <p:nvPicPr>
          <p:cNvPr id="6" name="Picture 5"/>
          <p:cNvPicPr>
            <a:picLocks noChangeAspect="1"/>
          </p:cNvPicPr>
          <p:nvPr/>
        </p:nvPicPr>
        <p:blipFill>
          <a:blip r:embed="rId3"/>
          <a:stretch>
            <a:fillRect/>
          </a:stretch>
        </p:blipFill>
        <p:spPr>
          <a:xfrm>
            <a:off x="499184" y="2956560"/>
            <a:ext cx="5051940" cy="3901439"/>
          </a:xfrm>
          <a:prstGeom prst="rect">
            <a:avLst/>
          </a:prstGeom>
        </p:spPr>
      </p:pic>
    </p:spTree>
    <p:extLst>
      <p:ext uri="{BB962C8B-B14F-4D97-AF65-F5344CB8AC3E}">
        <p14:creationId xmlns:p14="http://schemas.microsoft.com/office/powerpoint/2010/main" val="3973619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1800" dirty="0" smtClean="0"/>
              <a:t>The exploratory data analysis, gives an insightful overview of the dataset, helping us understand the correlations between columns and the classification.</a:t>
            </a:r>
          </a:p>
          <a:p>
            <a:r>
              <a:rPr lang="en-US" sz="1800" dirty="0" smtClean="0"/>
              <a:t>With the use of visuals, we can easily break down the correlations between the features and the classifications.</a:t>
            </a:r>
          </a:p>
          <a:p>
            <a:r>
              <a:rPr lang="en-US" sz="1800" dirty="0" smtClean="0"/>
              <a:t>The EDA is a fundamental step in creating efficient models for prediction.</a:t>
            </a:r>
          </a:p>
          <a:p>
            <a:r>
              <a:rPr lang="en-US" sz="1800" dirty="0" smtClean="0"/>
              <a:t>The dataset, turned out to have no NULL values, however outliers were notices using the IQR of box plot, and were handled accordingly.</a:t>
            </a:r>
          </a:p>
          <a:p>
            <a:r>
              <a:rPr lang="en-US" sz="1800" dirty="0" smtClean="0"/>
              <a:t>Univariate and multivariate analysis were used accordingly in order to get correlations and data distributions.</a:t>
            </a:r>
          </a:p>
          <a:p>
            <a:endParaRPr lang="en-US" dirty="0" smtClean="0"/>
          </a:p>
          <a:p>
            <a:endParaRPr lang="en-US" dirty="0"/>
          </a:p>
        </p:txBody>
      </p:sp>
      <p:sp>
        <p:nvSpPr>
          <p:cNvPr id="4" name="Rectangle 3"/>
          <p:cNvSpPr/>
          <p:nvPr/>
        </p:nvSpPr>
        <p:spPr>
          <a:xfrm>
            <a:off x="568959" y="1737360"/>
            <a:ext cx="2814320" cy="291592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254000" y="2041158"/>
            <a:ext cx="3291839" cy="2308324"/>
          </a:xfrm>
          <a:prstGeom prst="rect">
            <a:avLst/>
          </a:prstGeom>
          <a:noFill/>
        </p:spPr>
        <p:txBody>
          <a:bodyPr wrap="square" rtlCol="0">
            <a:spAutoFit/>
          </a:bodyPr>
          <a:lstStyle/>
          <a:p>
            <a:r>
              <a:rPr lang="en-US" sz="4800" dirty="0" smtClean="0">
                <a:latin typeface="Arial" panose="020B0604020202020204" pitchFamily="34" charset="0"/>
                <a:cs typeface="Arial" panose="020B0604020202020204" pitchFamily="34" charset="0"/>
              </a:rPr>
              <a:t>Exploratory Data Analysis</a:t>
            </a:r>
            <a:endParaRPr lang="en-US" sz="4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2846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Distribution of columns.</a:t>
            </a:r>
          </a:p>
          <a:p>
            <a:pPr marL="457200" lvl="1" indent="0">
              <a:buNone/>
            </a:pPr>
            <a:r>
              <a:rPr lang="en-US" sz="1600" dirty="0" smtClean="0"/>
              <a:t>For the alpha column:</a:t>
            </a:r>
            <a:endParaRPr lang="en-US" sz="1600" dirty="0"/>
          </a:p>
          <a:p>
            <a:pPr marL="457200" lvl="1" indent="0">
              <a:buNone/>
            </a:pPr>
            <a:r>
              <a:rPr lang="en-US" sz="1600" dirty="0" smtClean="0"/>
              <a:t>   Maximum values lie in the range of 100 </a:t>
            </a:r>
          </a:p>
          <a:p>
            <a:pPr marL="457200" lvl="1" indent="0">
              <a:buNone/>
            </a:pPr>
            <a:r>
              <a:rPr lang="en-US" sz="1600" dirty="0"/>
              <a:t> </a:t>
            </a:r>
            <a:r>
              <a:rPr lang="en-US" sz="1600" dirty="0" smtClean="0"/>
              <a:t> to 250, whilst a significant proportion also</a:t>
            </a:r>
          </a:p>
          <a:p>
            <a:pPr marL="457200" lvl="1" indent="0">
              <a:buNone/>
            </a:pPr>
            <a:r>
              <a:rPr lang="en-US" sz="1600" dirty="0"/>
              <a:t> </a:t>
            </a:r>
            <a:r>
              <a:rPr lang="en-US" sz="1600" dirty="0" smtClean="0"/>
              <a:t> have a distribution on the  extreme ends.</a:t>
            </a:r>
          </a:p>
          <a:p>
            <a:pPr marL="457200" lvl="1" indent="0">
              <a:buNone/>
            </a:pPr>
            <a:endParaRPr lang="en-US" sz="1600" dirty="0"/>
          </a:p>
          <a:p>
            <a:pPr marL="457200" lvl="1" indent="0">
              <a:buNone/>
            </a:pPr>
            <a:endParaRPr lang="en-US" sz="1600" dirty="0" smtClean="0"/>
          </a:p>
          <a:p>
            <a:pPr marL="457200" lvl="1" indent="0">
              <a:buNone/>
            </a:pPr>
            <a:endParaRPr lang="en-US" sz="1600" dirty="0"/>
          </a:p>
          <a:p>
            <a:pPr marL="457200" lvl="1" indent="0">
              <a:buNone/>
            </a:pPr>
            <a:endParaRPr lang="en-US" sz="1600" dirty="0" smtClean="0"/>
          </a:p>
          <a:p>
            <a:pPr marL="457200" lvl="1" indent="0">
              <a:buNone/>
            </a:pPr>
            <a:endParaRPr lang="en-US" sz="1600" dirty="0"/>
          </a:p>
          <a:p>
            <a:pPr marL="457200" lvl="1" indent="0">
              <a:buNone/>
            </a:pPr>
            <a:r>
              <a:rPr lang="en-US" sz="1600" dirty="0" smtClean="0"/>
              <a:t>					For the delta column:</a:t>
            </a:r>
          </a:p>
          <a:p>
            <a:pPr marL="457200" lvl="1" indent="0">
              <a:buNone/>
            </a:pPr>
            <a:endParaRPr lang="en-US" sz="1600" dirty="0" smtClean="0"/>
          </a:p>
          <a:p>
            <a:pPr marL="457200" lvl="1" indent="0">
              <a:buNone/>
            </a:pPr>
            <a:r>
              <a:rPr lang="en-US" sz="1600" dirty="0" smtClean="0"/>
              <a:t>  </a:t>
            </a:r>
          </a:p>
        </p:txBody>
      </p:sp>
      <p:sp>
        <p:nvSpPr>
          <p:cNvPr id="3" name="Title 2"/>
          <p:cNvSpPr>
            <a:spLocks noGrp="1"/>
          </p:cNvSpPr>
          <p:nvPr>
            <p:ph type="title"/>
          </p:nvPr>
        </p:nvSpPr>
        <p:spPr>
          <a:xfrm>
            <a:off x="848362" y="603666"/>
            <a:ext cx="2743200" cy="2562226"/>
          </a:xfrm>
        </p:spPr>
        <p:txBody>
          <a:bodyPr/>
          <a:lstStyle/>
          <a:p>
            <a:r>
              <a:rPr lang="en-US" dirty="0" smtClean="0"/>
              <a:t>Univariate analysis</a:t>
            </a:r>
            <a:endParaRPr lang="en-US" dirty="0"/>
          </a:p>
        </p:txBody>
      </p:sp>
      <p:pic>
        <p:nvPicPr>
          <p:cNvPr id="4" name="Picture 3"/>
          <p:cNvPicPr>
            <a:picLocks noChangeAspect="1"/>
          </p:cNvPicPr>
          <p:nvPr/>
        </p:nvPicPr>
        <p:blipFill>
          <a:blip r:embed="rId2"/>
          <a:stretch>
            <a:fillRect/>
          </a:stretch>
        </p:blipFill>
        <p:spPr>
          <a:xfrm>
            <a:off x="8910320" y="451266"/>
            <a:ext cx="2844801" cy="2905763"/>
          </a:xfrm>
          <a:prstGeom prst="rect">
            <a:avLst/>
          </a:prstGeom>
        </p:spPr>
      </p:pic>
      <p:pic>
        <p:nvPicPr>
          <p:cNvPr id="7" name="Picture 6"/>
          <p:cNvPicPr>
            <a:picLocks noChangeAspect="1"/>
          </p:cNvPicPr>
          <p:nvPr/>
        </p:nvPicPr>
        <p:blipFill>
          <a:blip r:embed="rId3"/>
          <a:stretch>
            <a:fillRect/>
          </a:stretch>
        </p:blipFill>
        <p:spPr>
          <a:xfrm>
            <a:off x="4661240" y="2753360"/>
            <a:ext cx="3179403" cy="2922322"/>
          </a:xfrm>
          <a:prstGeom prst="rect">
            <a:avLst/>
          </a:prstGeom>
        </p:spPr>
      </p:pic>
      <p:sp>
        <p:nvSpPr>
          <p:cNvPr id="8" name="Rectangle 7"/>
          <p:cNvSpPr/>
          <p:nvPr/>
        </p:nvSpPr>
        <p:spPr>
          <a:xfrm>
            <a:off x="8605520" y="3357029"/>
            <a:ext cx="2976880" cy="25154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8910320" y="3509429"/>
            <a:ext cx="2602796" cy="1107996"/>
          </a:xfrm>
          <a:prstGeom prst="rect">
            <a:avLst/>
          </a:prstGeom>
          <a:noFill/>
        </p:spPr>
        <p:txBody>
          <a:bodyPr wrap="square" rtlCol="0">
            <a:spAutoFit/>
          </a:bodyPr>
          <a:lstStyle/>
          <a:p>
            <a:r>
              <a:rPr lang="en-US" dirty="0" smtClean="0"/>
              <a:t>For the delta column:</a:t>
            </a:r>
          </a:p>
          <a:p>
            <a:r>
              <a:rPr lang="en-US" sz="1600" dirty="0" smtClean="0"/>
              <a:t>The data is almost uniformly distributed , with a slight peak close to the value of 0.</a:t>
            </a:r>
            <a:endParaRPr lang="en-US" sz="1600" dirty="0"/>
          </a:p>
        </p:txBody>
      </p:sp>
    </p:spTree>
    <p:extLst>
      <p:ext uri="{BB962C8B-B14F-4D97-AF65-F5344CB8AC3E}">
        <p14:creationId xmlns:p14="http://schemas.microsoft.com/office/powerpoint/2010/main" val="2245990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380206" y="361501"/>
            <a:ext cx="3268508" cy="2661847"/>
          </a:xfrm>
          <a:prstGeom prst="rect">
            <a:avLst/>
          </a:prstGeom>
        </p:spPr>
      </p:pic>
      <p:pic>
        <p:nvPicPr>
          <p:cNvPr id="5" name="Picture 4"/>
          <p:cNvPicPr>
            <a:picLocks noChangeAspect="1"/>
          </p:cNvPicPr>
          <p:nvPr/>
        </p:nvPicPr>
        <p:blipFill>
          <a:blip r:embed="rId3"/>
          <a:stretch>
            <a:fillRect/>
          </a:stretch>
        </p:blipFill>
        <p:spPr>
          <a:xfrm>
            <a:off x="7880413" y="123491"/>
            <a:ext cx="3362960" cy="3137869"/>
          </a:xfrm>
          <a:prstGeom prst="rect">
            <a:avLst/>
          </a:prstGeom>
        </p:spPr>
      </p:pic>
      <p:pic>
        <p:nvPicPr>
          <p:cNvPr id="6" name="Picture 5"/>
          <p:cNvPicPr>
            <a:picLocks noChangeAspect="1"/>
          </p:cNvPicPr>
          <p:nvPr/>
        </p:nvPicPr>
        <p:blipFill>
          <a:blip r:embed="rId4"/>
          <a:stretch>
            <a:fillRect/>
          </a:stretch>
        </p:blipFill>
        <p:spPr>
          <a:xfrm>
            <a:off x="4380206" y="3340492"/>
            <a:ext cx="3500207" cy="2976807"/>
          </a:xfrm>
          <a:prstGeom prst="rect">
            <a:avLst/>
          </a:prstGeom>
        </p:spPr>
      </p:pic>
      <p:pic>
        <p:nvPicPr>
          <p:cNvPr id="9" name="Picture 8"/>
          <p:cNvPicPr>
            <a:picLocks noChangeAspect="1"/>
          </p:cNvPicPr>
          <p:nvPr/>
        </p:nvPicPr>
        <p:blipFill>
          <a:blip r:embed="rId5"/>
          <a:stretch>
            <a:fillRect/>
          </a:stretch>
        </p:blipFill>
        <p:spPr>
          <a:xfrm>
            <a:off x="8270240" y="3436232"/>
            <a:ext cx="2973133" cy="2771455"/>
          </a:xfrm>
          <a:prstGeom prst="rect">
            <a:avLst/>
          </a:prstGeom>
        </p:spPr>
      </p:pic>
      <p:sp>
        <p:nvSpPr>
          <p:cNvPr id="10" name="Rectangle 9"/>
          <p:cNvSpPr/>
          <p:nvPr/>
        </p:nvSpPr>
        <p:spPr>
          <a:xfrm>
            <a:off x="548640" y="1692425"/>
            <a:ext cx="2773680" cy="3296135"/>
          </a:xfrm>
          <a:prstGeom prst="rect">
            <a:avLst/>
          </a:prstGeom>
          <a:solidFill>
            <a:srgbClr val="1C1A55"/>
          </a:solidFill>
          <a:ln>
            <a:solidFill>
              <a:srgbClr val="1C1A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84120" y="1692424"/>
            <a:ext cx="3434080" cy="2862322"/>
          </a:xfrm>
          <a:prstGeom prst="rect">
            <a:avLst/>
          </a:prstGeom>
          <a:noFill/>
        </p:spPr>
        <p:txBody>
          <a:bodyPr wrap="square" rtlCol="0">
            <a:spAutoFit/>
          </a:bodyPr>
          <a:lstStyle/>
          <a:p>
            <a:pPr marL="285750" indent="-285750">
              <a:buFont typeface="Arial" panose="020B0604020202020204" pitchFamily="34" charset="0"/>
              <a:buChar char="•"/>
            </a:pPr>
            <a:r>
              <a:rPr lang="en-US" dirty="0" smtClean="0">
                <a:solidFill>
                  <a:schemeClr val="bg1"/>
                </a:solidFill>
                <a:latin typeface="Arial" panose="020B0604020202020204" pitchFamily="34" charset="0"/>
                <a:cs typeface="Arial" panose="020B0604020202020204" pitchFamily="34" charset="0"/>
              </a:rPr>
              <a:t>The columns u and g show no distribution, and are locally distributed within a range close to 0.</a:t>
            </a:r>
            <a:endParaRPr lang="en-US"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smtClean="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smtClean="0">
                <a:solidFill>
                  <a:schemeClr val="bg1"/>
                </a:solidFill>
                <a:latin typeface="Arial" panose="020B0604020202020204" pitchFamily="34" charset="0"/>
                <a:cs typeface="Arial" panose="020B0604020202020204" pitchFamily="34" charset="0"/>
              </a:rPr>
              <a:t>The columns r and </a:t>
            </a:r>
            <a:r>
              <a:rPr lang="en-US" dirty="0" err="1" smtClean="0">
                <a:solidFill>
                  <a:schemeClr val="bg1"/>
                </a:solidFill>
                <a:latin typeface="Arial" panose="020B0604020202020204" pitchFamily="34" charset="0"/>
                <a:cs typeface="Arial" panose="020B0604020202020204" pitchFamily="34" charset="0"/>
              </a:rPr>
              <a:t>i</a:t>
            </a:r>
            <a:r>
              <a:rPr lang="en-US" dirty="0" smtClean="0">
                <a:solidFill>
                  <a:schemeClr val="bg1"/>
                </a:solidFill>
                <a:latin typeface="Arial" panose="020B0604020202020204" pitchFamily="34" charset="0"/>
                <a:cs typeface="Arial" panose="020B0604020202020204" pitchFamily="34" charset="0"/>
              </a:rPr>
              <a:t> are somewhat normally distributed over a range of values.</a:t>
            </a:r>
          </a:p>
          <a:p>
            <a:endParaRPr lang="en-US" dirty="0">
              <a:solidFill>
                <a:schemeClr val="bg1"/>
              </a:solidFill>
            </a:endParaRPr>
          </a:p>
        </p:txBody>
      </p:sp>
    </p:spTree>
    <p:extLst>
      <p:ext uri="{BB962C8B-B14F-4D97-AF65-F5344CB8AC3E}">
        <p14:creationId xmlns:p14="http://schemas.microsoft.com/office/powerpoint/2010/main" val="143297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91939" y="363428"/>
            <a:ext cx="3619505" cy="2979212"/>
          </a:xfrm>
          <a:prstGeom prst="rect">
            <a:avLst/>
          </a:prstGeom>
          <a:solidFill>
            <a:srgbClr val="1C1A55"/>
          </a:solidFill>
        </p:spPr>
      </p:pic>
      <p:pic>
        <p:nvPicPr>
          <p:cNvPr id="5" name="Picture 4"/>
          <p:cNvPicPr>
            <a:picLocks noChangeAspect="1"/>
          </p:cNvPicPr>
          <p:nvPr/>
        </p:nvPicPr>
        <p:blipFill>
          <a:blip r:embed="rId3"/>
          <a:stretch>
            <a:fillRect/>
          </a:stretch>
        </p:blipFill>
        <p:spPr>
          <a:xfrm>
            <a:off x="8675284" y="3108960"/>
            <a:ext cx="3172641" cy="2927413"/>
          </a:xfrm>
          <a:prstGeom prst="rect">
            <a:avLst/>
          </a:prstGeom>
        </p:spPr>
      </p:pic>
      <p:sp>
        <p:nvSpPr>
          <p:cNvPr id="6" name="Rectangle 5"/>
          <p:cNvSpPr/>
          <p:nvPr/>
        </p:nvSpPr>
        <p:spPr>
          <a:xfrm>
            <a:off x="3464560" y="0"/>
            <a:ext cx="5120640" cy="6858000"/>
          </a:xfrm>
          <a:prstGeom prst="rect">
            <a:avLst/>
          </a:prstGeom>
          <a:solidFill>
            <a:srgbClr val="1C1A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830320" y="363428"/>
            <a:ext cx="4460240" cy="3970318"/>
          </a:xfrm>
          <a:prstGeom prst="rect">
            <a:avLst/>
          </a:prstGeom>
          <a:noFill/>
        </p:spPr>
        <p:txBody>
          <a:bodyPr wrap="square" rtlCol="0">
            <a:spAutoFit/>
          </a:bodyPr>
          <a:lstStyle/>
          <a:p>
            <a:pPr marL="285750" indent="-285750">
              <a:buFont typeface="Arial" panose="020B0604020202020204" pitchFamily="34" charset="0"/>
              <a:buChar char="•"/>
            </a:pPr>
            <a:r>
              <a:rPr lang="en-US" dirty="0" smtClean="0">
                <a:solidFill>
                  <a:schemeClr val="bg1"/>
                </a:solidFill>
              </a:rPr>
              <a:t>The values of z are distributed similarly to those of the columns u and g.</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smtClean="0">
              <a:solidFill>
                <a:schemeClr val="bg1"/>
              </a:solidFill>
            </a:endParaRP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smtClean="0">
              <a:solidFill>
                <a:schemeClr val="bg1"/>
              </a:solidFill>
            </a:endParaRP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smtClean="0">
              <a:solidFill>
                <a:schemeClr val="bg1"/>
              </a:solidFill>
            </a:endParaRP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smtClean="0">
              <a:solidFill>
                <a:schemeClr val="bg1"/>
              </a:solidFill>
            </a:endParaRP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smtClean="0">
                <a:solidFill>
                  <a:schemeClr val="bg1"/>
                </a:solidFill>
              </a:rPr>
              <a:t>The redshift column is left skewed distribution, with majority values lying in the range 0 to 1.</a:t>
            </a:r>
            <a:endParaRPr lang="en-US" dirty="0">
              <a:solidFill>
                <a:schemeClr val="bg1"/>
              </a:solidFill>
            </a:endParaRPr>
          </a:p>
        </p:txBody>
      </p:sp>
    </p:spTree>
    <p:extLst>
      <p:ext uri="{BB962C8B-B14F-4D97-AF65-F5344CB8AC3E}">
        <p14:creationId xmlns:p14="http://schemas.microsoft.com/office/powerpoint/2010/main" val="630816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Multivariate analysis</a:t>
            </a:r>
            <a:endParaRPr lang="en-US" dirty="0"/>
          </a:p>
        </p:txBody>
      </p:sp>
      <p:sp>
        <p:nvSpPr>
          <p:cNvPr id="3" name="Content Placeholder 2"/>
          <p:cNvSpPr>
            <a:spLocks noGrp="1"/>
          </p:cNvSpPr>
          <p:nvPr>
            <p:ph idx="1"/>
          </p:nvPr>
        </p:nvSpPr>
        <p:spPr>
          <a:xfrm>
            <a:off x="883920" y="1649675"/>
            <a:ext cx="6128318" cy="1144325"/>
          </a:xfrm>
        </p:spPr>
        <p:txBody>
          <a:bodyPr>
            <a:normAutofit/>
          </a:bodyPr>
          <a:lstStyle/>
          <a:p>
            <a:r>
              <a:rPr lang="en-US" sz="1800" dirty="0" smtClean="0"/>
              <a:t>Correlation between photometric filters, shows a positive and a very high correlation. </a:t>
            </a:r>
            <a:endParaRPr lang="en-US" sz="1800" dirty="0"/>
          </a:p>
        </p:txBody>
      </p:sp>
      <p:pic>
        <p:nvPicPr>
          <p:cNvPr id="4" name="Picture 3"/>
          <p:cNvPicPr>
            <a:picLocks noChangeAspect="1"/>
          </p:cNvPicPr>
          <p:nvPr/>
        </p:nvPicPr>
        <p:blipFill>
          <a:blip r:embed="rId2"/>
          <a:stretch>
            <a:fillRect/>
          </a:stretch>
        </p:blipFill>
        <p:spPr>
          <a:xfrm>
            <a:off x="7264400" y="497846"/>
            <a:ext cx="4254909" cy="2949426"/>
          </a:xfrm>
          <a:prstGeom prst="rect">
            <a:avLst/>
          </a:prstGeom>
        </p:spPr>
      </p:pic>
      <p:sp>
        <p:nvSpPr>
          <p:cNvPr id="5" name="TextBox 4"/>
          <p:cNvSpPr txBox="1"/>
          <p:nvPr/>
        </p:nvSpPr>
        <p:spPr>
          <a:xfrm>
            <a:off x="883920" y="4216400"/>
            <a:ext cx="6228080" cy="646331"/>
          </a:xfrm>
          <a:prstGeom prst="rect">
            <a:avLst/>
          </a:prstGeom>
          <a:noFill/>
        </p:spPr>
        <p:txBody>
          <a:bodyPr wrap="square" rtlCol="0">
            <a:spAutoFit/>
          </a:bodyPr>
          <a:lstStyle/>
          <a:p>
            <a:pPr marL="285750" indent="-285750">
              <a:buFont typeface="Arial" panose="020B0604020202020204" pitchFamily="34" charset="0"/>
              <a:buChar char="•"/>
            </a:pPr>
            <a:r>
              <a:rPr lang="en-US" dirty="0"/>
              <a:t>The correlation matrix between alpha, delta, and redshift indicates a weak correlation among these variables.</a:t>
            </a:r>
          </a:p>
        </p:txBody>
      </p:sp>
      <p:pic>
        <p:nvPicPr>
          <p:cNvPr id="6" name="Picture 5"/>
          <p:cNvPicPr>
            <a:picLocks noChangeAspect="1"/>
          </p:cNvPicPr>
          <p:nvPr/>
        </p:nvPicPr>
        <p:blipFill>
          <a:blip r:embed="rId3"/>
          <a:stretch>
            <a:fillRect/>
          </a:stretch>
        </p:blipFill>
        <p:spPr>
          <a:xfrm>
            <a:off x="7660640" y="3768172"/>
            <a:ext cx="3629752" cy="2576712"/>
          </a:xfrm>
          <a:prstGeom prst="rect">
            <a:avLst/>
          </a:prstGeom>
        </p:spPr>
      </p:pic>
    </p:spTree>
    <p:extLst>
      <p:ext uri="{BB962C8B-B14F-4D97-AF65-F5344CB8AC3E}">
        <p14:creationId xmlns:p14="http://schemas.microsoft.com/office/powerpoint/2010/main" val="280218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424789" y="1403765"/>
            <a:ext cx="7057847" cy="3920075"/>
          </a:xfrm>
        </p:spPr>
        <p:txBody>
          <a:bodyPr>
            <a:normAutofit/>
          </a:bodyPr>
          <a:lstStyle/>
          <a:p>
            <a:r>
              <a:rPr lang="en-US" sz="1800" dirty="0" smtClean="0">
                <a:latin typeface="Roboto Medium" panose="02000000000000000000" pitchFamily="2" charset="0"/>
                <a:ea typeface="Roboto Medium" panose="02000000000000000000" pitchFamily="2" charset="0"/>
                <a:cs typeface="Tahoma" panose="020B0604030504040204" pitchFamily="34" charset="0"/>
              </a:rPr>
              <a:t>The columns, </a:t>
            </a:r>
            <a:r>
              <a:rPr lang="en-US" sz="1800" dirty="0" err="1" smtClean="0">
                <a:latin typeface="Roboto Medium" panose="02000000000000000000" pitchFamily="2" charset="0"/>
                <a:ea typeface="Roboto Medium" panose="02000000000000000000" pitchFamily="2" charset="0"/>
                <a:cs typeface="Tahoma" panose="020B0604030504040204" pitchFamily="34" charset="0"/>
              </a:rPr>
              <a:t>obj_ID</a:t>
            </a:r>
            <a:r>
              <a:rPr lang="en-US" sz="1800" dirty="0">
                <a:latin typeface="Roboto Medium" panose="02000000000000000000" pitchFamily="2" charset="0"/>
                <a:ea typeface="Roboto Medium" panose="02000000000000000000" pitchFamily="2" charset="0"/>
                <a:cs typeface="Tahoma" panose="020B0604030504040204" pitchFamily="34" charset="0"/>
              </a:rPr>
              <a:t> </a:t>
            </a:r>
            <a:r>
              <a:rPr lang="en-US" sz="1800" dirty="0" smtClean="0">
                <a:latin typeface="Roboto Medium" panose="02000000000000000000" pitchFamily="2" charset="0"/>
                <a:ea typeface="Roboto Medium" panose="02000000000000000000" pitchFamily="2" charset="0"/>
                <a:cs typeface="Tahoma" panose="020B0604030504040204" pitchFamily="34" charset="0"/>
              </a:rPr>
              <a:t>,</a:t>
            </a:r>
            <a:r>
              <a:rPr lang="en-US" sz="1800" dirty="0" err="1" smtClean="0">
                <a:latin typeface="Roboto Medium" panose="02000000000000000000" pitchFamily="2" charset="0"/>
                <a:ea typeface="Roboto Medium" panose="02000000000000000000" pitchFamily="2" charset="0"/>
                <a:cs typeface="Tahoma" panose="020B0604030504040204" pitchFamily="34" charset="0"/>
              </a:rPr>
              <a:t>spec_obj_ID</a:t>
            </a:r>
            <a:r>
              <a:rPr lang="en-US" sz="1800" dirty="0" smtClean="0">
                <a:latin typeface="Roboto Medium" panose="02000000000000000000" pitchFamily="2" charset="0"/>
                <a:ea typeface="Roboto Medium" panose="02000000000000000000" pitchFamily="2" charset="0"/>
                <a:cs typeface="Tahoma" panose="020B0604030504040204" pitchFamily="34" charset="0"/>
              </a:rPr>
              <a:t> , </a:t>
            </a:r>
            <a:r>
              <a:rPr lang="en-US" sz="1800" dirty="0" err="1" smtClean="0">
                <a:latin typeface="Roboto Medium" panose="02000000000000000000" pitchFamily="2" charset="0"/>
                <a:ea typeface="Roboto Medium" panose="02000000000000000000" pitchFamily="2" charset="0"/>
                <a:cs typeface="Tahoma" panose="020B0604030504040204" pitchFamily="34" charset="0"/>
              </a:rPr>
              <a:t>run_ID</a:t>
            </a:r>
            <a:r>
              <a:rPr lang="en-US" sz="1800" dirty="0" smtClean="0">
                <a:latin typeface="Roboto Medium" panose="02000000000000000000" pitchFamily="2" charset="0"/>
                <a:ea typeface="Roboto Medium" panose="02000000000000000000" pitchFamily="2" charset="0"/>
                <a:cs typeface="Tahoma" panose="020B0604030504040204" pitchFamily="34" charset="0"/>
              </a:rPr>
              <a:t>, </a:t>
            </a:r>
            <a:r>
              <a:rPr lang="en-US" sz="1800" dirty="0" err="1" smtClean="0">
                <a:latin typeface="Roboto Medium" panose="02000000000000000000" pitchFamily="2" charset="0"/>
                <a:ea typeface="Roboto Medium" panose="02000000000000000000" pitchFamily="2" charset="0"/>
                <a:cs typeface="Tahoma" panose="020B0604030504040204" pitchFamily="34" charset="0"/>
              </a:rPr>
              <a:t>rerun_ID</a:t>
            </a:r>
            <a:r>
              <a:rPr lang="en-US" sz="1800" dirty="0" smtClean="0">
                <a:latin typeface="Roboto Medium" panose="02000000000000000000" pitchFamily="2" charset="0"/>
                <a:ea typeface="Roboto Medium" panose="02000000000000000000" pitchFamily="2" charset="0"/>
                <a:cs typeface="Tahoma" panose="020B0604030504040204" pitchFamily="34" charset="0"/>
              </a:rPr>
              <a:t>, </a:t>
            </a:r>
            <a:r>
              <a:rPr lang="en-US" sz="1800" dirty="0" err="1" smtClean="0">
                <a:latin typeface="Roboto Medium" panose="02000000000000000000" pitchFamily="2" charset="0"/>
                <a:ea typeface="Roboto Medium" panose="02000000000000000000" pitchFamily="2" charset="0"/>
                <a:cs typeface="Tahoma" panose="020B0604030504040204" pitchFamily="34" charset="0"/>
              </a:rPr>
              <a:t>field_ID</a:t>
            </a:r>
            <a:r>
              <a:rPr lang="en-US" sz="1800" dirty="0" smtClean="0">
                <a:latin typeface="Roboto Medium" panose="02000000000000000000" pitchFamily="2" charset="0"/>
                <a:ea typeface="Roboto Medium" panose="02000000000000000000" pitchFamily="2" charset="0"/>
                <a:cs typeface="Tahoma" panose="020B0604030504040204" pitchFamily="34" charset="0"/>
              </a:rPr>
              <a:t> and </a:t>
            </a:r>
            <a:r>
              <a:rPr lang="en-US" sz="1800" dirty="0" err="1" smtClean="0">
                <a:latin typeface="Roboto Medium" panose="02000000000000000000" pitchFamily="2" charset="0"/>
                <a:ea typeface="Roboto Medium" panose="02000000000000000000" pitchFamily="2" charset="0"/>
                <a:cs typeface="Tahoma" panose="020B0604030504040204" pitchFamily="34" charset="0"/>
              </a:rPr>
              <a:t>fiber_ID</a:t>
            </a:r>
            <a:r>
              <a:rPr lang="en-US" sz="1800" dirty="0" smtClean="0">
                <a:latin typeface="Roboto Medium" panose="02000000000000000000" pitchFamily="2" charset="0"/>
                <a:ea typeface="Roboto Medium" panose="02000000000000000000" pitchFamily="2" charset="0"/>
                <a:cs typeface="Tahoma" panose="020B0604030504040204" pitchFamily="34" charset="0"/>
              </a:rPr>
              <a:t> are only used for identification and serve no purpose in the classification, and so we drop these columns.</a:t>
            </a:r>
          </a:p>
          <a:p>
            <a:r>
              <a:rPr lang="en-US" sz="1800" dirty="0" smtClean="0">
                <a:latin typeface="Roboto Medium" panose="02000000000000000000" pitchFamily="2" charset="0"/>
                <a:ea typeface="Roboto Medium" panose="02000000000000000000" pitchFamily="2" charset="0"/>
                <a:cs typeface="Tahoma" panose="020B0604030504040204" pitchFamily="34" charset="0"/>
              </a:rPr>
              <a:t>The columns u, </a:t>
            </a:r>
            <a:r>
              <a:rPr lang="en-US" sz="1800" dirty="0" err="1" smtClean="0">
                <a:latin typeface="Roboto Medium" panose="02000000000000000000" pitchFamily="2" charset="0"/>
                <a:ea typeface="Roboto Medium" panose="02000000000000000000" pitchFamily="2" charset="0"/>
                <a:cs typeface="Tahoma" panose="020B0604030504040204" pitchFamily="34" charset="0"/>
              </a:rPr>
              <a:t>i</a:t>
            </a:r>
            <a:r>
              <a:rPr lang="en-US" sz="1800" dirty="0" smtClean="0">
                <a:latin typeface="Roboto Medium" panose="02000000000000000000" pitchFamily="2" charset="0"/>
                <a:ea typeface="Roboto Medium" panose="02000000000000000000" pitchFamily="2" charset="0"/>
                <a:cs typeface="Tahoma" panose="020B0604030504040204" pitchFamily="34" charset="0"/>
              </a:rPr>
              <a:t>, g, r, z are photometric columns and have a very high correlation among themselves indicating importance.</a:t>
            </a:r>
          </a:p>
          <a:p>
            <a:r>
              <a:rPr lang="en-US" sz="1800" dirty="0" smtClean="0">
                <a:latin typeface="Roboto Medium" panose="02000000000000000000" pitchFamily="2" charset="0"/>
                <a:ea typeface="Roboto Medium" panose="02000000000000000000" pitchFamily="2" charset="0"/>
                <a:cs typeface="Tahoma" panose="020B0604030504040204" pitchFamily="34" charset="0"/>
              </a:rPr>
              <a:t>The columns alpha, delta and redshift are spectrometric, have weak correlation, but are important in terms of classification.</a:t>
            </a:r>
          </a:p>
          <a:p>
            <a:r>
              <a:rPr lang="en-US" sz="1800" dirty="0" smtClean="0">
                <a:latin typeface="Roboto Medium" panose="02000000000000000000" pitchFamily="2" charset="0"/>
                <a:ea typeface="Roboto Medium" panose="02000000000000000000" pitchFamily="2" charset="0"/>
                <a:cs typeface="Tahoma" panose="020B0604030504040204" pitchFamily="34" charset="0"/>
              </a:rPr>
              <a:t>The other columns, such as ‘MJD’, ‘</a:t>
            </a:r>
            <a:r>
              <a:rPr lang="en-US" sz="1800" dirty="0" err="1" smtClean="0">
                <a:latin typeface="Roboto Medium" panose="02000000000000000000" pitchFamily="2" charset="0"/>
                <a:ea typeface="Roboto Medium" panose="02000000000000000000" pitchFamily="2" charset="0"/>
                <a:cs typeface="Tahoma" panose="020B0604030504040204" pitchFamily="34" charset="0"/>
              </a:rPr>
              <a:t>cam_col</a:t>
            </a:r>
            <a:r>
              <a:rPr lang="en-US" sz="1800" dirty="0" smtClean="0">
                <a:latin typeface="Roboto Medium" panose="02000000000000000000" pitchFamily="2" charset="0"/>
                <a:ea typeface="Roboto Medium" panose="02000000000000000000" pitchFamily="2" charset="0"/>
                <a:cs typeface="Tahoma" panose="020B0604030504040204" pitchFamily="34" charset="0"/>
              </a:rPr>
              <a:t>’ and ‘plate’ give information about the lens, which was used to capture the data, removing these columns leads to poor prediction</a:t>
            </a:r>
            <a:r>
              <a:rPr lang="en-US" sz="1800" dirty="0" smtClean="0">
                <a:latin typeface="Roboto Medium" panose="02000000000000000000" pitchFamily="2" charset="0"/>
                <a:ea typeface="Roboto Medium" panose="02000000000000000000" pitchFamily="2" charset="0"/>
                <a:cs typeface="Tahoma" panose="020B0604030504040204" pitchFamily="34" charset="0"/>
              </a:rPr>
              <a:t>.</a:t>
            </a:r>
            <a:endParaRPr lang="en-US" sz="1800" dirty="0" smtClean="0">
              <a:latin typeface="Roboto Medium" panose="02000000000000000000" pitchFamily="2" charset="0"/>
              <a:ea typeface="Roboto Medium" panose="02000000000000000000" pitchFamily="2" charset="0"/>
              <a:cs typeface="Tahoma" panose="020B0604030504040204" pitchFamily="34" charset="0"/>
            </a:endParaRPr>
          </a:p>
        </p:txBody>
      </p:sp>
      <p:sp>
        <p:nvSpPr>
          <p:cNvPr id="3" name="Title 2"/>
          <p:cNvSpPr>
            <a:spLocks noGrp="1"/>
          </p:cNvSpPr>
          <p:nvPr>
            <p:ph type="title"/>
          </p:nvPr>
        </p:nvSpPr>
        <p:spPr>
          <a:xfrm>
            <a:off x="909322" y="1267350"/>
            <a:ext cx="2743200" cy="4269850"/>
          </a:xfrm>
        </p:spPr>
        <p:txBody>
          <a:bodyPr/>
          <a:lstStyle/>
          <a:p>
            <a:r>
              <a:rPr lang="en-US" dirty="0" smtClean="0">
                <a:latin typeface="Arial" panose="020B0604020202020204" pitchFamily="34" charset="0"/>
                <a:cs typeface="Arial" panose="020B0604020202020204" pitchFamily="34" charset="0"/>
              </a:rPr>
              <a:t>Feature Engineering</a:t>
            </a:r>
            <a:endParaRPr lang="en-US" dirty="0">
              <a:latin typeface="Arial" panose="020B0604020202020204" pitchFamily="34" charset="0"/>
              <a:cs typeface="Arial" panose="020B0604020202020204" pitchFamily="34" charset="0"/>
            </a:endParaRPr>
          </a:p>
        </p:txBody>
      </p:sp>
      <p:sp>
        <p:nvSpPr>
          <p:cNvPr id="4" name="TextBox 3"/>
          <p:cNvSpPr txBox="1"/>
          <p:nvPr/>
        </p:nvSpPr>
        <p:spPr>
          <a:xfrm>
            <a:off x="4582160" y="314960"/>
            <a:ext cx="5334000" cy="707886"/>
          </a:xfrm>
          <a:prstGeom prst="rect">
            <a:avLst/>
          </a:prstGeom>
          <a:noFill/>
        </p:spPr>
        <p:txBody>
          <a:bodyPr wrap="square" rtlCol="0">
            <a:spAutoFit/>
          </a:bodyPr>
          <a:lstStyle/>
          <a:p>
            <a:r>
              <a:rPr lang="en-US" sz="4000" dirty="0" smtClean="0">
                <a:solidFill>
                  <a:srgbClr val="8497B0"/>
                </a:solidFill>
              </a:rPr>
              <a:t>Preprocessing</a:t>
            </a:r>
            <a:endParaRPr lang="en-US" sz="4000" dirty="0">
              <a:solidFill>
                <a:srgbClr val="8497B0"/>
              </a:solidFill>
            </a:endParaRPr>
          </a:p>
        </p:txBody>
      </p:sp>
    </p:spTree>
    <p:extLst>
      <p:ext uri="{BB962C8B-B14F-4D97-AF65-F5344CB8AC3E}">
        <p14:creationId xmlns:p14="http://schemas.microsoft.com/office/powerpoint/2010/main" val="813867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833360" y="0"/>
            <a:ext cx="4358640" cy="6106160"/>
          </a:xfrm>
          <a:prstGeom prst="rect">
            <a:avLst/>
          </a:prstGeom>
          <a:solidFill>
            <a:srgbClr val="1C1A55"/>
          </a:solidFill>
          <a:ln>
            <a:solidFill>
              <a:srgbClr val="1C1A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16560" y="1037143"/>
            <a:ext cx="7264400" cy="4708981"/>
          </a:xfrm>
          <a:prstGeom prst="rect">
            <a:avLst/>
          </a:prstGeom>
          <a:noFill/>
        </p:spPr>
        <p:txBody>
          <a:bodyPr wrap="square" rtlCol="0">
            <a:spAutoFit/>
          </a:bodyPr>
          <a:lstStyle/>
          <a:p>
            <a:r>
              <a:rPr lang="en-US" sz="4400" dirty="0" smtClean="0"/>
              <a:t>Train Test Split</a:t>
            </a:r>
          </a:p>
          <a:p>
            <a:endParaRPr lang="en-US" sz="4400" dirty="0" smtClean="0"/>
          </a:p>
          <a:p>
            <a:pPr marL="571500" indent="-571500">
              <a:buFont typeface="Arial" panose="020B0604020202020204" pitchFamily="34" charset="0"/>
              <a:buChar char="•"/>
            </a:pPr>
            <a:r>
              <a:rPr lang="en-US" sz="2000" dirty="0">
                <a:latin typeface="Roboto Medium" panose="02000000000000000000" pitchFamily="2" charset="0"/>
                <a:ea typeface="Roboto Medium" panose="02000000000000000000" pitchFamily="2" charset="0"/>
                <a:cs typeface="Tahoma" panose="020B0604030504040204" pitchFamily="34" charset="0"/>
              </a:rPr>
              <a:t>Next we divide the dataset into x and y , where x includes all the columns and y includes the ‘class’, which was label encoded.</a:t>
            </a:r>
          </a:p>
          <a:p>
            <a:pPr marL="571500" indent="-571500">
              <a:buFont typeface="Arial" panose="020B0604020202020204" pitchFamily="34" charset="0"/>
              <a:buChar char="•"/>
            </a:pPr>
            <a:endParaRPr lang="en-US" sz="2400" dirty="0" smtClean="0"/>
          </a:p>
          <a:p>
            <a:pPr marL="571500" indent="-571500">
              <a:buFont typeface="Arial" panose="020B0604020202020204" pitchFamily="34" charset="0"/>
              <a:buChar char="•"/>
            </a:pPr>
            <a:r>
              <a:rPr lang="en-US" sz="2000" dirty="0" smtClean="0">
                <a:solidFill>
                  <a:schemeClr val="bg2">
                    <a:lumMod val="10000"/>
                  </a:schemeClr>
                </a:solidFill>
                <a:latin typeface="Roboto Medium" panose="02000000000000000000" pitchFamily="2" charset="0"/>
                <a:ea typeface="Roboto Medium" panose="02000000000000000000" pitchFamily="2" charset="0"/>
              </a:rPr>
              <a:t>We divide the data into train and test sets where 80% data is used for training, and 20% is used for testing</a:t>
            </a:r>
          </a:p>
          <a:p>
            <a:pPr marL="571500" indent="-571500">
              <a:buFont typeface="Arial" panose="020B0604020202020204" pitchFamily="34" charset="0"/>
              <a:buChar char="•"/>
            </a:pPr>
            <a:endParaRPr lang="en-US" sz="2000" dirty="0">
              <a:solidFill>
                <a:schemeClr val="bg2">
                  <a:lumMod val="10000"/>
                </a:schemeClr>
              </a:solidFill>
              <a:latin typeface="Roboto Medium" panose="02000000000000000000" pitchFamily="2" charset="0"/>
              <a:ea typeface="Roboto Medium" panose="02000000000000000000" pitchFamily="2" charset="0"/>
            </a:endParaRPr>
          </a:p>
          <a:p>
            <a:pPr marL="571500" indent="-571500">
              <a:buFont typeface="Arial" panose="020B0604020202020204" pitchFamily="34" charset="0"/>
              <a:buChar char="•"/>
            </a:pPr>
            <a:r>
              <a:rPr lang="en-US" sz="2000" dirty="0" smtClean="0">
                <a:solidFill>
                  <a:schemeClr val="bg2">
                    <a:lumMod val="10000"/>
                  </a:schemeClr>
                </a:solidFill>
                <a:latin typeface="Roboto Medium" panose="02000000000000000000" pitchFamily="2" charset="0"/>
                <a:ea typeface="Roboto Medium" panose="02000000000000000000" pitchFamily="2" charset="0"/>
              </a:rPr>
              <a:t>We use a random state value of 42 for the split.</a:t>
            </a:r>
          </a:p>
          <a:p>
            <a:endParaRPr lang="en-US" sz="2400" dirty="0" smtClean="0">
              <a:solidFill>
                <a:schemeClr val="bg2">
                  <a:lumMod val="10000"/>
                </a:schemeClr>
              </a:solidFill>
            </a:endParaRPr>
          </a:p>
          <a:p>
            <a:endParaRPr lang="en-US" sz="2400" dirty="0">
              <a:solidFill>
                <a:schemeClr val="bg2">
                  <a:lumMod val="10000"/>
                </a:schemeClr>
              </a:solidFill>
            </a:endParaRPr>
          </a:p>
        </p:txBody>
      </p:sp>
    </p:spTree>
    <p:extLst>
      <p:ext uri="{BB962C8B-B14F-4D97-AF65-F5344CB8AC3E}">
        <p14:creationId xmlns:p14="http://schemas.microsoft.com/office/powerpoint/2010/main" val="3427627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The following models were chosen for the classification.</a:t>
            </a:r>
            <a:endParaRPr lang="en-US" dirty="0"/>
          </a:p>
        </p:txBody>
      </p:sp>
      <p:sp>
        <p:nvSpPr>
          <p:cNvPr id="5" name="Content Placeholder 4"/>
          <p:cNvSpPr>
            <a:spLocks noGrp="1"/>
          </p:cNvSpPr>
          <p:nvPr>
            <p:ph idx="1"/>
          </p:nvPr>
        </p:nvSpPr>
        <p:spPr>
          <a:xfrm>
            <a:off x="4455269" y="1463538"/>
            <a:ext cx="7057847" cy="1886005"/>
          </a:xfrm>
        </p:spPr>
        <p:txBody>
          <a:bodyPr>
            <a:normAutofit/>
          </a:bodyPr>
          <a:lstStyle/>
          <a:p>
            <a:r>
              <a:rPr lang="en-US" sz="2200" dirty="0" smtClean="0">
                <a:latin typeface="Roboto Medium" panose="02000000000000000000" pitchFamily="2" charset="0"/>
                <a:ea typeface="Roboto Medium" panose="02000000000000000000" pitchFamily="2" charset="0"/>
              </a:rPr>
              <a:t>Logistic Regression:</a:t>
            </a:r>
          </a:p>
          <a:p>
            <a:pPr lvl="1"/>
            <a:r>
              <a:rPr lang="en-US" sz="1800" dirty="0">
                <a:latin typeface="Roboto Medium" panose="02000000000000000000" pitchFamily="2" charset="0"/>
                <a:ea typeface="Roboto Medium" panose="02000000000000000000" pitchFamily="2" charset="0"/>
              </a:rPr>
              <a:t>Logistic regression is a statistical method used for binary classification tasks. It models the relationship between a dependent binary variable and one or more independent variables by estimating probabilities using the logistic function, enabling predictions of categorical </a:t>
            </a:r>
            <a:r>
              <a:rPr lang="en-US" sz="1800" dirty="0" smtClean="0">
                <a:latin typeface="Roboto Medium" panose="02000000000000000000" pitchFamily="2" charset="0"/>
                <a:ea typeface="Roboto Medium" panose="02000000000000000000" pitchFamily="2" charset="0"/>
              </a:rPr>
              <a:t>outcomes.</a:t>
            </a:r>
            <a:endParaRPr lang="en-US" sz="1800" dirty="0">
              <a:latin typeface="Roboto Medium" panose="02000000000000000000" pitchFamily="2" charset="0"/>
              <a:ea typeface="Roboto Medium" panose="02000000000000000000" pitchFamily="2" charset="0"/>
            </a:endParaRPr>
          </a:p>
        </p:txBody>
      </p:sp>
      <p:sp>
        <p:nvSpPr>
          <p:cNvPr id="6" name="Rectangle 5"/>
          <p:cNvSpPr/>
          <p:nvPr/>
        </p:nvSpPr>
        <p:spPr>
          <a:xfrm>
            <a:off x="381000" y="1659835"/>
            <a:ext cx="3291840" cy="374904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609600" y="2407920"/>
            <a:ext cx="2834640" cy="1569660"/>
          </a:xfrm>
          <a:prstGeom prst="rect">
            <a:avLst/>
          </a:prstGeom>
          <a:noFill/>
        </p:spPr>
        <p:txBody>
          <a:bodyPr wrap="square" rtlCol="0">
            <a:spAutoFit/>
          </a:bodyPr>
          <a:lstStyle/>
          <a:p>
            <a:r>
              <a:rPr lang="en-US" sz="4800" dirty="0" smtClean="0">
                <a:latin typeface="Roboto Medium" panose="02000000000000000000" pitchFamily="2" charset="0"/>
                <a:ea typeface="Roboto Medium" panose="02000000000000000000" pitchFamily="2" charset="0"/>
              </a:rPr>
              <a:t>Model Selection</a:t>
            </a:r>
            <a:endParaRPr lang="en-US" sz="4800" dirty="0">
              <a:latin typeface="Roboto Medium" panose="02000000000000000000" pitchFamily="2" charset="0"/>
              <a:ea typeface="Roboto Medium" panose="02000000000000000000" pitchFamily="2" charset="0"/>
            </a:endParaRPr>
          </a:p>
        </p:txBody>
      </p:sp>
      <p:sp>
        <p:nvSpPr>
          <p:cNvPr id="8" name="TextBox 7"/>
          <p:cNvSpPr txBox="1"/>
          <p:nvPr/>
        </p:nvSpPr>
        <p:spPr>
          <a:xfrm>
            <a:off x="4592320" y="3349543"/>
            <a:ext cx="6920796" cy="1815882"/>
          </a:xfrm>
          <a:prstGeom prst="rect">
            <a:avLst/>
          </a:prstGeom>
          <a:noFill/>
        </p:spPr>
        <p:txBody>
          <a:bodyPr wrap="square" rtlCol="0">
            <a:spAutoFit/>
          </a:bodyPr>
          <a:lstStyle/>
          <a:p>
            <a:pPr marL="285750" indent="-285750">
              <a:buFont typeface="Arial" panose="020B0604020202020204" pitchFamily="34" charset="0"/>
              <a:buChar char="•"/>
            </a:pPr>
            <a:r>
              <a:rPr lang="en-US" sz="2200" dirty="0" smtClean="0">
                <a:solidFill>
                  <a:schemeClr val="bg1"/>
                </a:solidFill>
                <a:latin typeface="Roboto Medium" panose="02000000000000000000" pitchFamily="2" charset="0"/>
                <a:ea typeface="Roboto Medium" panose="02000000000000000000" pitchFamily="2" charset="0"/>
              </a:rPr>
              <a:t>Decision Tree Classifier:</a:t>
            </a:r>
          </a:p>
          <a:p>
            <a:pPr marL="742950" lvl="1" indent="-285750">
              <a:buFont typeface="Arial" panose="020B0604020202020204" pitchFamily="34" charset="0"/>
              <a:buChar char="•"/>
            </a:pPr>
            <a:r>
              <a:rPr lang="en-US" dirty="0">
                <a:solidFill>
                  <a:schemeClr val="bg1"/>
                </a:solidFill>
                <a:latin typeface="Roboto Medium" panose="02000000000000000000" pitchFamily="2" charset="0"/>
                <a:ea typeface="Roboto Medium" panose="02000000000000000000" pitchFamily="2" charset="0"/>
              </a:rPr>
              <a:t>A decision tree classifier is a model that splits data into branches based on feature values, creating a tree-like structure. Each node represents a decision rule, and leaves represent outcomes, making it easy to interpret and visualize.</a:t>
            </a:r>
          </a:p>
        </p:txBody>
      </p:sp>
    </p:spTree>
    <p:extLst>
      <p:ext uri="{BB962C8B-B14F-4D97-AF65-F5344CB8AC3E}">
        <p14:creationId xmlns:p14="http://schemas.microsoft.com/office/powerpoint/2010/main" val="3291311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657" y="0"/>
            <a:ext cx="4155440" cy="6858000"/>
          </a:xfrm>
          <a:prstGeom prst="rect">
            <a:avLst/>
          </a:prstGeom>
          <a:solidFill>
            <a:srgbClr val="1C1A55"/>
          </a:solidFill>
          <a:ln>
            <a:solidFill>
              <a:srgbClr val="1C1A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11200" y="386080"/>
            <a:ext cx="10718800" cy="1292662"/>
          </a:xfrm>
          <a:prstGeom prst="rect">
            <a:avLst/>
          </a:prstGeom>
          <a:noFill/>
        </p:spPr>
        <p:txBody>
          <a:bodyPr wrap="square" rtlCol="0">
            <a:spAutoFit/>
          </a:bodyPr>
          <a:lstStyle/>
          <a:p>
            <a:pPr marL="342900" indent="-342900">
              <a:buFont typeface="Arial" panose="020B0604020202020204" pitchFamily="34" charset="0"/>
              <a:buChar char="•"/>
            </a:pPr>
            <a:r>
              <a:rPr lang="en-US" sz="2200" dirty="0" smtClean="0">
                <a:solidFill>
                  <a:schemeClr val="bg1"/>
                </a:solidFill>
                <a:latin typeface="Roboto Medium" panose="02000000000000000000" pitchFamily="2" charset="0"/>
                <a:ea typeface="Roboto Medium" panose="02000000000000000000" pitchFamily="2" charset="0"/>
              </a:rPr>
              <a:t>KNN ( K-Nearest Neighbors)</a:t>
            </a:r>
          </a:p>
          <a:p>
            <a:pPr marL="800100" lvl="1" indent="-342900">
              <a:buFont typeface="Arial" panose="020B0604020202020204" pitchFamily="34" charset="0"/>
              <a:buChar char="•"/>
            </a:pPr>
            <a:r>
              <a:rPr lang="en-US" dirty="0">
                <a:solidFill>
                  <a:schemeClr val="bg1"/>
                </a:solidFill>
                <a:latin typeface="Roboto Medium" panose="02000000000000000000" pitchFamily="2" charset="0"/>
                <a:ea typeface="Roboto Medium" panose="02000000000000000000" pitchFamily="2" charset="0"/>
              </a:rPr>
              <a:t>K-Nearest Neighbors (KNN) is a simple, non-parametric classification algorithm that assigns a class based on the majority vote of the nearest neighbors in the feature space. It's intuitive but computationally intensive, especially with large datasets.</a:t>
            </a:r>
          </a:p>
        </p:txBody>
      </p:sp>
      <p:sp>
        <p:nvSpPr>
          <p:cNvPr id="7" name="TextBox 6"/>
          <p:cNvSpPr txBox="1"/>
          <p:nvPr/>
        </p:nvSpPr>
        <p:spPr>
          <a:xfrm>
            <a:off x="711200" y="1897149"/>
            <a:ext cx="10718800" cy="1292662"/>
          </a:xfrm>
          <a:prstGeom prst="rect">
            <a:avLst/>
          </a:prstGeom>
          <a:noFill/>
        </p:spPr>
        <p:txBody>
          <a:bodyPr wrap="square" rtlCol="0">
            <a:spAutoFit/>
          </a:bodyPr>
          <a:lstStyle/>
          <a:p>
            <a:pPr marL="342900" indent="-342900">
              <a:buFont typeface="Arial" panose="020B0604020202020204" pitchFamily="34" charset="0"/>
              <a:buChar char="•"/>
            </a:pPr>
            <a:r>
              <a:rPr lang="en-US" sz="2200" dirty="0" smtClean="0">
                <a:solidFill>
                  <a:schemeClr val="bg1"/>
                </a:solidFill>
                <a:latin typeface="Roboto Medium" panose="02000000000000000000" pitchFamily="2" charset="0"/>
                <a:ea typeface="Roboto Medium" panose="02000000000000000000" pitchFamily="2" charset="0"/>
              </a:rPr>
              <a:t>Support Vector Machine (SVM)</a:t>
            </a:r>
          </a:p>
          <a:p>
            <a:pPr marL="800100" lvl="1" indent="-342900">
              <a:buFont typeface="Arial" panose="020B0604020202020204" pitchFamily="34" charset="0"/>
              <a:buChar char="•"/>
            </a:pPr>
            <a:r>
              <a:rPr lang="en-US" dirty="0">
                <a:solidFill>
                  <a:schemeClr val="bg1"/>
                </a:solidFill>
                <a:latin typeface="Roboto Medium" panose="02000000000000000000" pitchFamily="2" charset="0"/>
                <a:ea typeface="Roboto Medium" panose="02000000000000000000" pitchFamily="2" charset="0"/>
              </a:rPr>
              <a:t>Support Vector Machine (SVM) is a powerful classification algorithm that finds the optimal hyperplane to separate data into different classes. It is effective in high-dimensional spaces and works well with both linear and non-linear data using kernel functions</a:t>
            </a:r>
          </a:p>
        </p:txBody>
      </p:sp>
      <p:sp>
        <p:nvSpPr>
          <p:cNvPr id="11" name="TextBox 10"/>
          <p:cNvSpPr txBox="1"/>
          <p:nvPr/>
        </p:nvSpPr>
        <p:spPr>
          <a:xfrm>
            <a:off x="711200" y="3330763"/>
            <a:ext cx="10718800" cy="1292662"/>
          </a:xfrm>
          <a:prstGeom prst="rect">
            <a:avLst/>
          </a:prstGeom>
          <a:noFill/>
        </p:spPr>
        <p:txBody>
          <a:bodyPr wrap="square" rtlCol="0">
            <a:spAutoFit/>
          </a:bodyPr>
          <a:lstStyle/>
          <a:p>
            <a:pPr marL="342900" indent="-342900">
              <a:buFont typeface="Arial" panose="020B0604020202020204" pitchFamily="34" charset="0"/>
              <a:buChar char="•"/>
            </a:pPr>
            <a:r>
              <a:rPr lang="en-US" sz="2200" dirty="0" err="1" smtClean="0">
                <a:solidFill>
                  <a:schemeClr val="bg1"/>
                </a:solidFill>
                <a:latin typeface="Roboto Medium" panose="02000000000000000000" pitchFamily="2" charset="0"/>
                <a:ea typeface="Roboto Medium" panose="02000000000000000000" pitchFamily="2" charset="0"/>
              </a:rPr>
              <a:t>AdaBoost</a:t>
            </a:r>
            <a:endParaRPr lang="en-US" sz="2200" dirty="0" smtClean="0">
              <a:solidFill>
                <a:schemeClr val="bg1"/>
              </a:solidFill>
              <a:latin typeface="Roboto Medium" panose="02000000000000000000" pitchFamily="2" charset="0"/>
              <a:ea typeface="Roboto Medium" panose="02000000000000000000" pitchFamily="2" charset="0"/>
            </a:endParaRPr>
          </a:p>
          <a:p>
            <a:pPr marL="800100" lvl="1" indent="-342900">
              <a:buFont typeface="Arial" panose="020B0604020202020204" pitchFamily="34" charset="0"/>
              <a:buChar char="•"/>
            </a:pPr>
            <a:r>
              <a:rPr lang="en-US" dirty="0" err="1">
                <a:solidFill>
                  <a:schemeClr val="bg1"/>
                </a:solidFill>
                <a:latin typeface="Roboto Medium" panose="02000000000000000000" pitchFamily="2" charset="0"/>
                <a:ea typeface="Roboto Medium" panose="02000000000000000000" pitchFamily="2" charset="0"/>
              </a:rPr>
              <a:t>AdaBoost</a:t>
            </a:r>
            <a:r>
              <a:rPr lang="en-US" dirty="0">
                <a:solidFill>
                  <a:schemeClr val="bg1"/>
                </a:solidFill>
                <a:latin typeface="Roboto Medium" panose="02000000000000000000" pitchFamily="2" charset="0"/>
                <a:ea typeface="Roboto Medium" panose="02000000000000000000" pitchFamily="2" charset="0"/>
              </a:rPr>
              <a:t>, or Adaptive Boosting, is an ensemble technique that combines weak classifiers to create a strong classifier. It iteratively adjusts the weights of misclassified instances, focusing on harder-to-classify samples, thereby improving overall model accuracy.</a:t>
            </a:r>
          </a:p>
        </p:txBody>
      </p:sp>
      <p:sp>
        <p:nvSpPr>
          <p:cNvPr id="12" name="TextBox 11"/>
          <p:cNvSpPr txBox="1"/>
          <p:nvPr/>
        </p:nvSpPr>
        <p:spPr>
          <a:xfrm>
            <a:off x="802640" y="4764377"/>
            <a:ext cx="10718800" cy="1261884"/>
          </a:xfrm>
          <a:prstGeom prst="rect">
            <a:avLst/>
          </a:prstGeom>
          <a:noFill/>
        </p:spPr>
        <p:txBody>
          <a:bodyPr wrap="square" rtlCol="0">
            <a:spAutoFit/>
          </a:bodyPr>
          <a:lstStyle/>
          <a:p>
            <a:pPr marL="342900" indent="-342900">
              <a:buFont typeface="Arial" panose="020B0604020202020204" pitchFamily="34" charset="0"/>
              <a:buChar char="•"/>
            </a:pPr>
            <a:r>
              <a:rPr lang="en-US" sz="2200" dirty="0">
                <a:solidFill>
                  <a:schemeClr val="bg1"/>
                </a:solidFill>
              </a:rPr>
              <a:t>Random Forest:</a:t>
            </a:r>
          </a:p>
          <a:p>
            <a:pPr lvl="1"/>
            <a:r>
              <a:rPr lang="en-US" dirty="0">
                <a:solidFill>
                  <a:schemeClr val="bg1"/>
                </a:solidFill>
                <a:latin typeface="Roboto Medium" panose="02000000000000000000" pitchFamily="2" charset="0"/>
                <a:ea typeface="Roboto Medium" panose="02000000000000000000" pitchFamily="2" charset="0"/>
              </a:rPr>
              <a:t>Random Forest is an ensemble learning method that builds multiple decision trees and combines their predictions. Each tree is trained on a random subset of the data and features, improving accuracy, reducing overfitting, and handling large datasets effectively.</a:t>
            </a:r>
            <a:endParaRPr lang="en-US" dirty="0">
              <a:solidFill>
                <a:schemeClr val="bg1"/>
              </a:solidFill>
              <a:latin typeface="Roboto Medium" panose="02000000000000000000" pitchFamily="2" charset="0"/>
              <a:ea typeface="Roboto Medium" panose="02000000000000000000" pitchFamily="2" charset="0"/>
            </a:endParaRPr>
          </a:p>
        </p:txBody>
      </p:sp>
    </p:spTree>
    <p:extLst>
      <p:ext uri="{BB962C8B-B14F-4D97-AF65-F5344CB8AC3E}">
        <p14:creationId xmlns:p14="http://schemas.microsoft.com/office/powerpoint/2010/main" val="36718238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Evaluation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46274955"/>
              </p:ext>
            </p:extLst>
          </p:nvPr>
        </p:nvGraphicFramePr>
        <p:xfrm>
          <a:off x="679450" y="1660527"/>
          <a:ext cx="5731510" cy="3931920"/>
        </p:xfrm>
        <a:graphic>
          <a:graphicData uri="http://schemas.openxmlformats.org/drawingml/2006/table">
            <a:tbl>
              <a:tblPr firstRow="1" bandRow="1">
                <a:tableStyleId>{5202B0CA-FC54-4496-8BCA-5EF66A818D29}</a:tableStyleId>
              </a:tblPr>
              <a:tblGrid>
                <a:gridCol w="1146302">
                  <a:extLst>
                    <a:ext uri="{9D8B030D-6E8A-4147-A177-3AD203B41FA5}">
                      <a16:colId xmlns:a16="http://schemas.microsoft.com/office/drawing/2014/main" val="934080756"/>
                    </a:ext>
                  </a:extLst>
                </a:gridCol>
                <a:gridCol w="1146302">
                  <a:extLst>
                    <a:ext uri="{9D8B030D-6E8A-4147-A177-3AD203B41FA5}">
                      <a16:colId xmlns:a16="http://schemas.microsoft.com/office/drawing/2014/main" val="424154664"/>
                    </a:ext>
                  </a:extLst>
                </a:gridCol>
                <a:gridCol w="1146302">
                  <a:extLst>
                    <a:ext uri="{9D8B030D-6E8A-4147-A177-3AD203B41FA5}">
                      <a16:colId xmlns:a16="http://schemas.microsoft.com/office/drawing/2014/main" val="3749056083"/>
                    </a:ext>
                  </a:extLst>
                </a:gridCol>
                <a:gridCol w="1146302">
                  <a:extLst>
                    <a:ext uri="{9D8B030D-6E8A-4147-A177-3AD203B41FA5}">
                      <a16:colId xmlns:a16="http://schemas.microsoft.com/office/drawing/2014/main" val="433974232"/>
                    </a:ext>
                  </a:extLst>
                </a:gridCol>
                <a:gridCol w="1146302">
                  <a:extLst>
                    <a:ext uri="{9D8B030D-6E8A-4147-A177-3AD203B41FA5}">
                      <a16:colId xmlns:a16="http://schemas.microsoft.com/office/drawing/2014/main" val="2325711292"/>
                    </a:ext>
                  </a:extLst>
                </a:gridCol>
              </a:tblGrid>
              <a:tr h="462913">
                <a:tc>
                  <a:txBody>
                    <a:bodyPr/>
                    <a:lstStyle/>
                    <a:p>
                      <a:r>
                        <a:rPr lang="en-US" dirty="0" smtClean="0"/>
                        <a:t>Model</a:t>
                      </a:r>
                      <a:endParaRPr lang="en-US" dirty="0"/>
                    </a:p>
                  </a:txBody>
                  <a:tcPr/>
                </a:tc>
                <a:tc>
                  <a:txBody>
                    <a:bodyPr/>
                    <a:lstStyle/>
                    <a:p>
                      <a:r>
                        <a:rPr lang="en-US" dirty="0" smtClean="0"/>
                        <a:t>Precision %</a:t>
                      </a:r>
                      <a:endParaRPr lang="en-US" dirty="0"/>
                    </a:p>
                  </a:txBody>
                  <a:tcPr/>
                </a:tc>
                <a:tc>
                  <a:txBody>
                    <a:bodyPr/>
                    <a:lstStyle/>
                    <a:p>
                      <a:r>
                        <a:rPr lang="en-US" dirty="0" smtClean="0"/>
                        <a:t>Accuracy %</a:t>
                      </a:r>
                      <a:endParaRPr lang="en-US" dirty="0"/>
                    </a:p>
                  </a:txBody>
                  <a:tcPr/>
                </a:tc>
                <a:tc>
                  <a:txBody>
                    <a:bodyPr/>
                    <a:lstStyle/>
                    <a:p>
                      <a:r>
                        <a:rPr lang="en-US" dirty="0" smtClean="0"/>
                        <a:t>Recall %</a:t>
                      </a:r>
                      <a:endParaRPr lang="en-US" dirty="0"/>
                    </a:p>
                  </a:txBody>
                  <a:tcPr/>
                </a:tc>
                <a:tc>
                  <a:txBody>
                    <a:bodyPr/>
                    <a:lstStyle/>
                    <a:p>
                      <a:r>
                        <a:rPr lang="en-US" dirty="0" smtClean="0"/>
                        <a:t>F1-Score %</a:t>
                      </a:r>
                      <a:endParaRPr lang="en-US" dirty="0"/>
                    </a:p>
                  </a:txBody>
                  <a:tcPr/>
                </a:tc>
                <a:extLst>
                  <a:ext uri="{0D108BD9-81ED-4DB2-BD59-A6C34878D82A}">
                    <a16:rowId xmlns:a16="http://schemas.microsoft.com/office/drawing/2014/main" val="2759358016"/>
                  </a:ext>
                </a:extLst>
              </a:tr>
              <a:tr h="460179">
                <a:tc>
                  <a:txBody>
                    <a:bodyPr/>
                    <a:lstStyle/>
                    <a:p>
                      <a:r>
                        <a:rPr lang="en-US" dirty="0" smtClean="0"/>
                        <a:t>Logistic Regression</a:t>
                      </a:r>
                      <a:endParaRPr lang="en-US" dirty="0"/>
                    </a:p>
                  </a:txBody>
                  <a:tcPr/>
                </a:tc>
                <a:tc>
                  <a:txBody>
                    <a:bodyPr/>
                    <a:lstStyle/>
                    <a:p>
                      <a:r>
                        <a:rPr lang="en-US" dirty="0" smtClean="0"/>
                        <a:t>95.554</a:t>
                      </a:r>
                      <a:endParaRPr lang="en-US" dirty="0"/>
                    </a:p>
                  </a:txBody>
                  <a:tcPr/>
                </a:tc>
                <a:tc>
                  <a:txBody>
                    <a:bodyPr/>
                    <a:lstStyle/>
                    <a:p>
                      <a:r>
                        <a:rPr lang="en-US" dirty="0" smtClean="0"/>
                        <a:t>95.565</a:t>
                      </a:r>
                      <a:endParaRPr lang="en-US" dirty="0"/>
                    </a:p>
                  </a:txBody>
                  <a:tcPr/>
                </a:tc>
                <a:tc>
                  <a:txBody>
                    <a:bodyPr/>
                    <a:lstStyle/>
                    <a:p>
                      <a:r>
                        <a:rPr lang="en-US" dirty="0" smtClean="0"/>
                        <a:t>95.565</a:t>
                      </a:r>
                      <a:endParaRPr lang="en-US" dirty="0"/>
                    </a:p>
                  </a:txBody>
                  <a:tcPr/>
                </a:tc>
                <a:tc>
                  <a:txBody>
                    <a:bodyPr/>
                    <a:lstStyle/>
                    <a:p>
                      <a:r>
                        <a:rPr lang="en-US" dirty="0" smtClean="0"/>
                        <a:t>95.524</a:t>
                      </a:r>
                      <a:endParaRPr lang="en-US" dirty="0"/>
                    </a:p>
                  </a:txBody>
                  <a:tcPr/>
                </a:tc>
                <a:extLst>
                  <a:ext uri="{0D108BD9-81ED-4DB2-BD59-A6C34878D82A}">
                    <a16:rowId xmlns:a16="http://schemas.microsoft.com/office/drawing/2014/main" val="3082609342"/>
                  </a:ext>
                </a:extLst>
              </a:tr>
              <a:tr h="460179">
                <a:tc>
                  <a:txBody>
                    <a:bodyPr/>
                    <a:lstStyle/>
                    <a:p>
                      <a:r>
                        <a:rPr lang="en-US" dirty="0" smtClean="0"/>
                        <a:t>Decision Tree </a:t>
                      </a:r>
                      <a:endParaRPr lang="en-US" dirty="0"/>
                    </a:p>
                  </a:txBody>
                  <a:tcPr/>
                </a:tc>
                <a:tc>
                  <a:txBody>
                    <a:bodyPr/>
                    <a:lstStyle/>
                    <a:p>
                      <a:r>
                        <a:rPr lang="en-US" dirty="0" smtClean="0"/>
                        <a:t>96.548</a:t>
                      </a:r>
                      <a:endParaRPr lang="en-US" dirty="0"/>
                    </a:p>
                  </a:txBody>
                  <a:tcPr/>
                </a:tc>
                <a:tc>
                  <a:txBody>
                    <a:bodyPr/>
                    <a:lstStyle/>
                    <a:p>
                      <a:r>
                        <a:rPr lang="en-US" dirty="0" smtClean="0"/>
                        <a:t>96.545</a:t>
                      </a:r>
                      <a:endParaRPr lang="en-US" dirty="0"/>
                    </a:p>
                  </a:txBody>
                  <a:tcPr/>
                </a:tc>
                <a:tc>
                  <a:txBody>
                    <a:bodyPr/>
                    <a:lstStyle/>
                    <a:p>
                      <a:r>
                        <a:rPr lang="en-US" dirty="0" smtClean="0"/>
                        <a:t>96.545</a:t>
                      </a:r>
                      <a:endParaRPr lang="en-US" dirty="0"/>
                    </a:p>
                  </a:txBody>
                  <a:tcPr/>
                </a:tc>
                <a:tc>
                  <a:txBody>
                    <a:bodyPr/>
                    <a:lstStyle/>
                    <a:p>
                      <a:r>
                        <a:rPr lang="en-US" dirty="0" smtClean="0"/>
                        <a:t>96.546</a:t>
                      </a:r>
                      <a:endParaRPr lang="en-US" dirty="0"/>
                    </a:p>
                  </a:txBody>
                  <a:tcPr/>
                </a:tc>
                <a:extLst>
                  <a:ext uri="{0D108BD9-81ED-4DB2-BD59-A6C34878D82A}">
                    <a16:rowId xmlns:a16="http://schemas.microsoft.com/office/drawing/2014/main" val="1314143599"/>
                  </a:ext>
                </a:extLst>
              </a:tr>
              <a:tr h="262959">
                <a:tc>
                  <a:txBody>
                    <a:bodyPr/>
                    <a:lstStyle/>
                    <a:p>
                      <a:r>
                        <a:rPr lang="en-US" dirty="0" smtClean="0"/>
                        <a:t>K-NN</a:t>
                      </a:r>
                      <a:endParaRPr lang="en-US" dirty="0"/>
                    </a:p>
                  </a:txBody>
                  <a:tcPr/>
                </a:tc>
                <a:tc>
                  <a:txBody>
                    <a:bodyPr/>
                    <a:lstStyle/>
                    <a:p>
                      <a:r>
                        <a:rPr lang="en-US" dirty="0" smtClean="0"/>
                        <a:t>93.269</a:t>
                      </a:r>
                      <a:endParaRPr lang="en-US" dirty="0"/>
                    </a:p>
                  </a:txBody>
                  <a:tcPr/>
                </a:tc>
                <a:tc>
                  <a:txBody>
                    <a:bodyPr/>
                    <a:lstStyle/>
                    <a:p>
                      <a:r>
                        <a:rPr lang="en-US" dirty="0" smtClean="0"/>
                        <a:t>93.245</a:t>
                      </a:r>
                      <a:endParaRPr lang="en-US" dirty="0"/>
                    </a:p>
                  </a:txBody>
                  <a:tcPr/>
                </a:tc>
                <a:tc>
                  <a:txBody>
                    <a:bodyPr/>
                    <a:lstStyle/>
                    <a:p>
                      <a:r>
                        <a:rPr lang="en-US" dirty="0" smtClean="0"/>
                        <a:t>93.245</a:t>
                      </a:r>
                      <a:endParaRPr lang="en-US" dirty="0"/>
                    </a:p>
                  </a:txBody>
                  <a:tcPr/>
                </a:tc>
                <a:tc>
                  <a:txBody>
                    <a:bodyPr/>
                    <a:lstStyle/>
                    <a:p>
                      <a:r>
                        <a:rPr lang="en-US" dirty="0" smtClean="0"/>
                        <a:t>93.209</a:t>
                      </a:r>
                      <a:endParaRPr lang="en-US" dirty="0"/>
                    </a:p>
                  </a:txBody>
                  <a:tcPr/>
                </a:tc>
                <a:extLst>
                  <a:ext uri="{0D108BD9-81ED-4DB2-BD59-A6C34878D82A}">
                    <a16:rowId xmlns:a16="http://schemas.microsoft.com/office/drawing/2014/main" val="1895701917"/>
                  </a:ext>
                </a:extLst>
              </a:tr>
              <a:tr h="262959">
                <a:tc>
                  <a:txBody>
                    <a:bodyPr/>
                    <a:lstStyle/>
                    <a:p>
                      <a:r>
                        <a:rPr lang="en-US" dirty="0" smtClean="0"/>
                        <a:t>SVM</a:t>
                      </a:r>
                      <a:endParaRPr lang="en-US" dirty="0"/>
                    </a:p>
                  </a:txBody>
                  <a:tcPr/>
                </a:tc>
                <a:tc>
                  <a:txBody>
                    <a:bodyPr/>
                    <a:lstStyle/>
                    <a:p>
                      <a:r>
                        <a:rPr lang="en-US" dirty="0" smtClean="0"/>
                        <a:t>96.053</a:t>
                      </a:r>
                      <a:endParaRPr lang="en-US" dirty="0"/>
                    </a:p>
                  </a:txBody>
                  <a:tcPr/>
                </a:tc>
                <a:tc>
                  <a:txBody>
                    <a:bodyPr/>
                    <a:lstStyle/>
                    <a:p>
                      <a:r>
                        <a:rPr lang="en-US" dirty="0" smtClean="0"/>
                        <a:t>96.070</a:t>
                      </a:r>
                      <a:endParaRPr lang="en-US" dirty="0"/>
                    </a:p>
                  </a:txBody>
                  <a:tcPr/>
                </a:tc>
                <a:tc>
                  <a:txBody>
                    <a:bodyPr/>
                    <a:lstStyle/>
                    <a:p>
                      <a:r>
                        <a:rPr lang="en-US" dirty="0" smtClean="0"/>
                        <a:t>96.070</a:t>
                      </a:r>
                      <a:endParaRPr lang="en-US" dirty="0"/>
                    </a:p>
                  </a:txBody>
                  <a:tcPr/>
                </a:tc>
                <a:tc>
                  <a:txBody>
                    <a:bodyPr/>
                    <a:lstStyle/>
                    <a:p>
                      <a:r>
                        <a:rPr lang="en-US" dirty="0" smtClean="0"/>
                        <a:t>96.030</a:t>
                      </a:r>
                      <a:endParaRPr lang="en-US" dirty="0"/>
                    </a:p>
                  </a:txBody>
                  <a:tcPr/>
                </a:tc>
                <a:extLst>
                  <a:ext uri="{0D108BD9-81ED-4DB2-BD59-A6C34878D82A}">
                    <a16:rowId xmlns:a16="http://schemas.microsoft.com/office/drawing/2014/main" val="3206726802"/>
                  </a:ext>
                </a:extLst>
              </a:tr>
              <a:tr h="295020">
                <a:tc>
                  <a:txBody>
                    <a:bodyPr/>
                    <a:lstStyle/>
                    <a:p>
                      <a:r>
                        <a:rPr lang="en-US" dirty="0" err="1" smtClean="0"/>
                        <a:t>AdaBoost</a:t>
                      </a:r>
                      <a:endParaRPr lang="en-US" dirty="0"/>
                    </a:p>
                  </a:txBody>
                  <a:tcPr/>
                </a:tc>
                <a:tc>
                  <a:txBody>
                    <a:bodyPr/>
                    <a:lstStyle/>
                    <a:p>
                      <a:r>
                        <a:rPr lang="en-US" dirty="0" smtClean="0"/>
                        <a:t>68.119</a:t>
                      </a:r>
                      <a:endParaRPr lang="en-US" dirty="0"/>
                    </a:p>
                  </a:txBody>
                  <a:tcPr/>
                </a:tc>
                <a:tc>
                  <a:txBody>
                    <a:bodyPr/>
                    <a:lstStyle/>
                    <a:p>
                      <a:r>
                        <a:rPr lang="en-US" dirty="0" smtClean="0"/>
                        <a:t>79.845</a:t>
                      </a:r>
                      <a:endParaRPr lang="en-US" dirty="0"/>
                    </a:p>
                  </a:txBody>
                  <a:tcPr/>
                </a:tc>
                <a:tc>
                  <a:txBody>
                    <a:bodyPr/>
                    <a:lstStyle/>
                    <a:p>
                      <a:r>
                        <a:rPr lang="en-US" dirty="0" smtClean="0"/>
                        <a:t>79.845</a:t>
                      </a:r>
                      <a:endParaRPr lang="en-US" dirty="0"/>
                    </a:p>
                  </a:txBody>
                  <a:tcPr/>
                </a:tc>
                <a:tc>
                  <a:txBody>
                    <a:bodyPr/>
                    <a:lstStyle/>
                    <a:p>
                      <a:r>
                        <a:rPr lang="en-US" dirty="0" smtClean="0"/>
                        <a:t>72.100</a:t>
                      </a:r>
                      <a:endParaRPr lang="en-US" dirty="0"/>
                    </a:p>
                  </a:txBody>
                  <a:tcPr/>
                </a:tc>
                <a:extLst>
                  <a:ext uri="{0D108BD9-81ED-4DB2-BD59-A6C34878D82A}">
                    <a16:rowId xmlns:a16="http://schemas.microsoft.com/office/drawing/2014/main" val="2798079849"/>
                  </a:ext>
                </a:extLst>
              </a:tr>
              <a:tr h="460179">
                <a:tc>
                  <a:txBody>
                    <a:bodyPr/>
                    <a:lstStyle/>
                    <a:p>
                      <a:r>
                        <a:rPr lang="en-US" dirty="0" smtClean="0"/>
                        <a:t>Random Forest</a:t>
                      </a:r>
                      <a:endParaRPr lang="en-US" dirty="0"/>
                    </a:p>
                  </a:txBody>
                  <a:tcPr/>
                </a:tc>
                <a:tc>
                  <a:txBody>
                    <a:bodyPr/>
                    <a:lstStyle/>
                    <a:p>
                      <a:r>
                        <a:rPr lang="en-US" dirty="0" smtClean="0"/>
                        <a:t>97.803</a:t>
                      </a:r>
                      <a:endParaRPr lang="en-US" dirty="0"/>
                    </a:p>
                  </a:txBody>
                  <a:tcPr/>
                </a:tc>
                <a:tc>
                  <a:txBody>
                    <a:bodyPr/>
                    <a:lstStyle/>
                    <a:p>
                      <a:r>
                        <a:rPr lang="en-US" dirty="0" smtClean="0"/>
                        <a:t>97.815</a:t>
                      </a:r>
                      <a:endParaRPr lang="en-US" dirty="0"/>
                    </a:p>
                  </a:txBody>
                  <a:tcPr/>
                </a:tc>
                <a:tc>
                  <a:txBody>
                    <a:bodyPr/>
                    <a:lstStyle/>
                    <a:p>
                      <a:r>
                        <a:rPr lang="en-US" dirty="0" smtClean="0"/>
                        <a:t>97.815</a:t>
                      </a:r>
                      <a:endParaRPr lang="en-US" dirty="0"/>
                    </a:p>
                  </a:txBody>
                  <a:tcPr/>
                </a:tc>
                <a:tc>
                  <a:txBody>
                    <a:bodyPr/>
                    <a:lstStyle/>
                    <a:p>
                      <a:r>
                        <a:rPr lang="en-US" dirty="0" smtClean="0"/>
                        <a:t>97.801</a:t>
                      </a:r>
                      <a:endParaRPr lang="en-US" dirty="0"/>
                    </a:p>
                  </a:txBody>
                  <a:tcPr/>
                </a:tc>
                <a:extLst>
                  <a:ext uri="{0D108BD9-81ED-4DB2-BD59-A6C34878D82A}">
                    <a16:rowId xmlns:a16="http://schemas.microsoft.com/office/drawing/2014/main" val="3210150274"/>
                  </a:ext>
                </a:extLst>
              </a:tr>
            </a:tbl>
          </a:graphicData>
        </a:graphic>
      </p:graphicFrame>
      <p:graphicFrame>
        <p:nvGraphicFramePr>
          <p:cNvPr id="10" name="Chart 9"/>
          <p:cNvGraphicFramePr/>
          <p:nvPr>
            <p:extLst>
              <p:ext uri="{D42A27DB-BD31-4B8C-83A1-F6EECF244321}">
                <p14:modId xmlns:p14="http://schemas.microsoft.com/office/powerpoint/2010/main" val="2661701705"/>
              </p:ext>
            </p:extLst>
          </p:nvPr>
        </p:nvGraphicFramePr>
        <p:xfrm>
          <a:off x="6786880" y="1501921"/>
          <a:ext cx="4836160" cy="409052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197249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Inferences</a:t>
            </a:r>
            <a:endParaRPr lang="en-US" dirty="0"/>
          </a:p>
        </p:txBody>
      </p:sp>
      <p:sp>
        <p:nvSpPr>
          <p:cNvPr id="3" name="Content Placeholder 2"/>
          <p:cNvSpPr>
            <a:spLocks noGrp="1"/>
          </p:cNvSpPr>
          <p:nvPr>
            <p:ph idx="1"/>
          </p:nvPr>
        </p:nvSpPr>
        <p:spPr/>
        <p:txBody>
          <a:bodyPr>
            <a:normAutofit/>
          </a:bodyPr>
          <a:lstStyle/>
          <a:p>
            <a:r>
              <a:rPr lang="en-US" sz="2200" dirty="0" smtClean="0"/>
              <a:t>For the following dataset, the random forest classifier performs robustly with an accuracy of 97.81% and a precision of 97.80 %.</a:t>
            </a:r>
          </a:p>
          <a:p>
            <a:r>
              <a:rPr lang="en-US" sz="2200" dirty="0" smtClean="0"/>
              <a:t>The other models also perform significantly good, and with more fine adjustments we should be able to get close to perfect scores from all.</a:t>
            </a:r>
          </a:p>
          <a:p>
            <a:r>
              <a:rPr lang="en-US" sz="2200" dirty="0" smtClean="0"/>
              <a:t>However, the </a:t>
            </a:r>
            <a:r>
              <a:rPr lang="en-US" sz="2200" dirty="0" err="1" smtClean="0"/>
              <a:t>AdaBoost</a:t>
            </a:r>
            <a:r>
              <a:rPr lang="en-US" sz="2200" dirty="0" smtClean="0"/>
              <a:t> model performs the worst in classifying the stellar objects.</a:t>
            </a:r>
          </a:p>
          <a:p>
            <a:endParaRPr lang="en-US" sz="2200" dirty="0" smtClean="0"/>
          </a:p>
          <a:p>
            <a:endParaRPr lang="en-US" sz="2200" dirty="0" smtClean="0"/>
          </a:p>
          <a:p>
            <a:endParaRPr lang="en-US" sz="2200" dirty="0" smtClean="0"/>
          </a:p>
          <a:p>
            <a:endParaRPr lang="en-US" sz="2200" dirty="0"/>
          </a:p>
        </p:txBody>
      </p:sp>
      <p:sp>
        <p:nvSpPr>
          <p:cNvPr id="4" name="Rectangle 3"/>
          <p:cNvSpPr/>
          <p:nvPr/>
        </p:nvSpPr>
        <p:spPr>
          <a:xfrm>
            <a:off x="447040" y="1659835"/>
            <a:ext cx="3180080" cy="34201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19790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r>
              <a:rPr lang="en-US" dirty="0" smtClean="0"/>
              <a:t>The project helped me understand and implement machine learning principles at a much higher level.</a:t>
            </a:r>
          </a:p>
          <a:p>
            <a:r>
              <a:rPr lang="en-US" dirty="0" smtClean="0"/>
              <a:t>With the help of this project, I successfully implemented a machine learning model, which could automatically detect stellar objects such as galaxies, quasars and stars.</a:t>
            </a:r>
          </a:p>
          <a:p>
            <a:r>
              <a:rPr lang="en-US" dirty="0" smtClean="0"/>
              <a:t>The maximum model accuracy that was achieved was 97.82 %.</a:t>
            </a:r>
            <a:endParaRPr lang="en-US" dirty="0"/>
          </a:p>
        </p:txBody>
      </p:sp>
      <p:sp>
        <p:nvSpPr>
          <p:cNvPr id="6" name="Title 5"/>
          <p:cNvSpPr>
            <a:spLocks noGrp="1"/>
          </p:cNvSpPr>
          <p:nvPr>
            <p:ph type="title"/>
          </p:nvPr>
        </p:nvSpPr>
        <p:spPr/>
        <p:txBody>
          <a:bodyPr/>
          <a:lstStyle/>
          <a:p>
            <a:r>
              <a:rPr lang="en-US" dirty="0" smtClean="0"/>
              <a:t>Conclusion</a:t>
            </a:r>
            <a:endParaRPr lang="en-US" dirty="0"/>
          </a:p>
        </p:txBody>
      </p:sp>
    </p:spTree>
    <p:extLst>
      <p:ext uri="{BB962C8B-B14F-4D97-AF65-F5344CB8AC3E}">
        <p14:creationId xmlns:p14="http://schemas.microsoft.com/office/powerpoint/2010/main" val="400151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timing>
    <p:tnLst>
      <p:par>
        <p:cTn id="1" dur="indefinite" restart="never" nodeType="tmRoot"/>
      </p:par>
    </p:tnLst>
  </p:timing>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7208</TotalTime>
  <Words>1639</Words>
  <Application>Microsoft Office PowerPoint</Application>
  <PresentationFormat>Widescreen</PresentationFormat>
  <Paragraphs>179</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 Unicode MS</vt:lpstr>
      <vt:lpstr>Calibri</vt:lpstr>
      <vt:lpstr>Courier New</vt:lpstr>
      <vt:lpstr>Roboto Medium</vt:lpstr>
      <vt:lpstr>Tahoma</vt:lpstr>
      <vt:lpstr>BIA Template</vt:lpstr>
      <vt:lpstr>PowerPoint Presentation</vt:lpstr>
      <vt:lpstr>Index</vt:lpstr>
      <vt:lpstr>Introduction</vt:lpstr>
      <vt:lpstr>Goal of the project</vt:lpstr>
      <vt:lpstr>Data Collection</vt:lpstr>
      <vt:lpstr>Understanding Features</vt:lpstr>
      <vt:lpstr>PowerPoint Presentation</vt:lpstr>
      <vt:lpstr>PowerPoint Presentation</vt:lpstr>
      <vt:lpstr>PowerPoint Presentation</vt:lpstr>
      <vt:lpstr>Univariate analysis</vt:lpstr>
      <vt:lpstr>PowerPoint Presentation</vt:lpstr>
      <vt:lpstr>PowerPoint Presentation</vt:lpstr>
      <vt:lpstr>Multivariate analysis</vt:lpstr>
      <vt:lpstr>Feature Engineering</vt:lpstr>
      <vt:lpstr>PowerPoint Presentation</vt:lpstr>
      <vt:lpstr>The following models were chosen for the classification.</vt:lpstr>
      <vt:lpstr>PowerPoint Presentation</vt:lpstr>
      <vt:lpstr>Model Evaluation</vt:lpstr>
      <vt:lpstr>Inferences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HP</cp:lastModifiedBy>
  <cp:revision>2279</cp:revision>
  <dcterms:created xsi:type="dcterms:W3CDTF">2020-12-23T13:36:00Z</dcterms:created>
  <dcterms:modified xsi:type="dcterms:W3CDTF">2024-08-30T11:14:29Z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